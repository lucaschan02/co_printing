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56" r:id="rId2"/>
    <p:sldId id="260" r:id="rId3"/>
    <p:sldId id="261" r:id="rId4"/>
    <p:sldId id="257" r:id="rId5"/>
    <p:sldId id="259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E582AFF-9F9D-41BA-AEF4-80B6400BAA5C}">
          <p14:sldIdLst>
            <p14:sldId id="256"/>
            <p14:sldId id="260"/>
            <p14:sldId id="261"/>
            <p14:sldId id="257"/>
            <p14:sldId id="259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ts val="32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D965B-87A4-4F43-BE02-800BCCDF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 anchor="ctr" anchorCtr="0"/>
          <a:lstStyle/>
          <a:p>
            <a:fld id="{403CB87E-4591-47A1-9046-CF63F17215EF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ED35B-CBF1-40D9-BAA7-CF9E1E22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7328" y="6217920"/>
            <a:ext cx="7196328" cy="640080"/>
          </a:xfrm>
        </p:spPr>
        <p:txBody>
          <a:bodyPr anchor="ctr" anchorCtr="0"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653A-450D-4BDE-8718-99F2D931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/>
          <a:lstStyle>
            <a:lvl1pPr algn="ctr">
              <a:defRPr/>
            </a:lvl1pPr>
          </a:lstStyle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825625"/>
            <a:ext cx="10543031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1A7D4-E57E-4789-896B-B2A051BF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3DE70B-B772-416E-A790-995760B1742E}" type="datetime2">
              <a:rPr lang="en-US" smtClean="0"/>
              <a:t>Monday, November 24,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B63EE-3B35-4F8A-BDA3-E778BFE1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39EF2-7937-4C30-A883-7F7BD028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281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43032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43032" cy="1500187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4E2B4-314C-4D4F-8938-E437A2EF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0CDE-A6F1-4138-AF12-ED09E8E5FB6B}" type="datetime2">
              <a:rPr lang="en-US" smtClean="0"/>
              <a:t>Monday, November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42F23-6986-4A36-97F0-13F305A2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BA1B9-2423-42BD-A553-DC5703F6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60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599176" cy="4206382"/>
          </a:xfrm>
        </p:spPr>
        <p:txBody>
          <a:bodyPr/>
          <a:lstStyle>
            <a:lvl1pPr marL="457200" indent="-457200">
              <a:buFont typeface="Wingdings 2" panose="05020102010507070707" pitchFamily="18" charset="2"/>
              <a:buChar char="¬"/>
              <a:defRPr/>
            </a:lvl1pPr>
            <a:lvl2pPr marL="800100" indent="-342900">
              <a:buFont typeface="Wingdings 2" panose="05020102010507070707" pitchFamily="18" charset="2"/>
              <a:buChar char="¬"/>
              <a:defRPr/>
            </a:lvl2pPr>
            <a:lvl3pPr marL="1257300" indent="-342900">
              <a:buFont typeface="Wingdings 2" panose="05020102010507070707" pitchFamily="18" charset="2"/>
              <a:buChar char="¬"/>
              <a:defRPr/>
            </a:lvl3pPr>
            <a:lvl4pPr marL="1657350" indent="-285750">
              <a:buFont typeface="Wingdings 2" panose="05020102010507070707" pitchFamily="18" charset="2"/>
              <a:buChar char="¬"/>
              <a:defRPr/>
            </a:lvl4pPr>
            <a:lvl5pPr marL="2114550" indent="-28575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79145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A1B49-6AAA-4DA7-970F-B75899F1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F8B1-DB7B-4D28-A97D-40FB2DD1EF78}" type="datetime2">
              <a:rPr lang="en-US" smtClean="0"/>
              <a:t>Monday, November 24,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3649A-B9A2-4737-B47E-758DC140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C1407-C705-451C-878E-8175DCCD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9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681163"/>
            <a:ext cx="554969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0624" y="2505075"/>
            <a:ext cx="554969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70321" y="1681163"/>
            <a:ext cx="4993335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70321" y="2505075"/>
            <a:ext cx="4993335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298F3-0AEC-4811-99A4-B78AE3A7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14039161-23B8-4738-9069-73EBE8884FDD}" type="datetime2">
              <a:rPr lang="en-US" smtClean="0"/>
              <a:t>Monday, November 24,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690B4-8A9A-4717-8B0B-2C921292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8F00A-44BE-4E0A-B1CE-1FC48965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78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3A871-5A76-4349-99F0-C46C77380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4D44-7693-499F-AC6C-11696134FE3F}" type="datetime2">
              <a:rPr lang="en-US" smtClean="0"/>
              <a:t>Monday, November 24,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2E803-8BD9-40A2-8389-C19DA114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414ED-B772-4B84-813E-E34C9A9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3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62BDD-CBFF-4046-A6B2-A9ECCB7E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F2AE-472C-4EF3-ABB2-24BAA9AE3CF7}" type="datetime2">
              <a:rPr lang="en-US" smtClean="0"/>
              <a:t>Monday, November 24,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0B5F6-6C28-4A86-AFD0-D7F93D46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10D5C-1634-451B-8D99-4D47EB3A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0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43032" cy="1600200"/>
          </a:xfrm>
        </p:spPr>
        <p:txBody>
          <a:bodyPr anchor="b">
            <a:noAutofit/>
          </a:bodyPr>
          <a:lstStyle>
            <a:lvl1pPr>
              <a:defRPr sz="5200">
                <a:latin typeface="IBM Plex Serif" panose="02060503050406000203" pitchFamily="18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199340"/>
            <a:ext cx="5780468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4489180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4813E-250B-4422-AE46-5E1AB964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EAEA162C-A7C1-4263-9453-1BAFF8C39559}" type="datetime2">
              <a:rPr lang="en-US" smtClean="0"/>
              <a:t>Monday, November 24,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B5B81-E9CC-45F3-8EF1-35D2C8FF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A7E97-5A73-4602-9582-6CDACB91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1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4489180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4489180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F6305-9768-4792-866C-91238D45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64DF6793-3458-4587-8168-65F0C37A92D2}" type="datetime2">
              <a:rPr lang="en-US" smtClean="0"/>
              <a:t>Monday, November 24,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BF050-0FF1-499F-936E-FAAE50DC3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02C2E-1542-46B4-85B1-7A4B3F77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98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B8191-8A0C-4077-9A2D-0255BF81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17F0E-8070-4DFE-A821-9A699EDBAD7E}" type="datetime2">
              <a:rPr lang="en-US" smtClean="0"/>
              <a:t>Monday, November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41B40-57AC-45F3-9AAC-DC2BEBB1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D65F4-29FA-451A-878F-768E426A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1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141D6-1E1A-4A54-A9B4-57F86865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34AE-C7BF-46E5-A968-01C6641F6476}" type="datetime2">
              <a:rPr lang="en-US" smtClean="0"/>
              <a:t>Monday, November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541D6-4702-4421-AEB2-D6CA3AAD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C9F43-CD60-4C38-94C9-0E6D3B72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1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86836B-C327-49CB-ADF2-2E730C4A91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BM Plex Serif" panose="02060503050406000203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310F61-136C-42B3-981B-FDE3DD0A8135}"/>
              </a:ext>
            </a:extLst>
          </p:cNvPr>
          <p:cNvSpPr/>
          <p:nvPr/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BM Plex Serif" panose="02060503050406000203" pitchFamily="18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430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IBM Plex Serif" panose="02060503050406000203" pitchFamily="18" charset="0"/>
              </a:defRPr>
            </a:lvl1pPr>
          </a:lstStyle>
          <a:p>
            <a:fld id="{E8352ED3-3C46-4C9A-9738-67B2D875E7E2}" type="datetime2">
              <a:rPr lang="en-US" smtClean="0"/>
              <a:pPr/>
              <a:t>Monday, November 24,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IBM Plex Serif" panose="02060503050406000203" pitchFamily="18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  <a:latin typeface="IBM Plex Serif" panose="02060503050406000203" pitchFamily="18" charset="0"/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50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IBM Plex Serif" panose="020605030504060002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ts val="28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IBM Plex Serif" panose="020605030504060002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IBM Plex Serif" panose="020605030504060002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IBM Plex Serif" panose="020605030504060002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IBM Plex Serif" panose="020605030504060002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ts val="28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400" kern="1200">
          <a:solidFill>
            <a:schemeClr val="tx2"/>
          </a:solidFill>
          <a:latin typeface="IBM Plex Serif" panose="020605030504060002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AD1F-05FC-9135-9EE3-AA8B0F6709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FA25ProgressReport_Lucas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D820D-1A31-F8CF-75F0-EB67DC1926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2025/11/24</a:t>
            </a:r>
          </a:p>
        </p:txBody>
      </p:sp>
    </p:spTree>
    <p:extLst>
      <p:ext uri="{BB962C8B-B14F-4D97-AF65-F5344CB8AC3E}">
        <p14:creationId xmlns:p14="http://schemas.microsoft.com/office/powerpoint/2010/main" val="322764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2C6B-7083-07C7-DD6A-317B45F8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Interlocking Topology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680682-DAB6-0E5D-4771-4DD7409C26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0624" y="3283726"/>
                <a:ext cx="11071160" cy="1864926"/>
              </a:xfrm>
            </p:spPr>
            <p:txBody>
              <a:bodyPr numCol="2">
                <a:normAutofit/>
              </a:bodyPr>
              <a:lstStyle/>
              <a:p>
                <a:pPr marL="0" indent="0">
                  <a:buNone/>
                </a:pPr>
                <a:r>
                  <a:rPr lang="en-GB" sz="1400" b="1" dirty="0"/>
                  <a:t>Geometric Classification</a:t>
                </a:r>
                <a:r>
                  <a:rPr lang="en-GB" sz="1400" dirty="0"/>
                  <a:t> </a:t>
                </a:r>
              </a:p>
              <a:p>
                <a:pPr marL="0" indent="0">
                  <a:buNone/>
                </a:pPr>
                <a:r>
                  <a:rPr lang="en-GB" sz="1400" dirty="0"/>
                  <a:t>Segments are classified into four mechanical categories based on their orientation angle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/>
                  <a:t>relative to the horizontal axis:</a:t>
                </a:r>
              </a:p>
              <a:p>
                <a:pPr marL="0" indent="0">
                  <a:buNone/>
                </a:pPr>
                <a:endParaRPr lang="en-GB" sz="1400" b="1" dirty="0"/>
              </a:p>
              <a:p>
                <a:pPr marL="0" indent="0">
                  <a:buNone/>
                </a:pPr>
                <a:r>
                  <a:rPr lang="en-GB" sz="1400" b="1" dirty="0"/>
                  <a:t>Quantitative Descriptors</a:t>
                </a:r>
                <a:r>
                  <a:rPr lang="en-GB" sz="1400" dirty="0"/>
                  <a:t> </a:t>
                </a:r>
              </a:p>
              <a:p>
                <a:pPr marL="0" indent="0">
                  <a:buNone/>
                </a:pPr>
                <a:r>
                  <a:rPr lang="en-GB" sz="1400" dirty="0"/>
                  <a:t>Calculates key metrics to quantify mechanical strength potential: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680682-DAB6-0E5D-4771-4DD7409C2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624" y="3283726"/>
                <a:ext cx="11071160" cy="1864926"/>
              </a:xfrm>
              <a:blipFill>
                <a:blip r:embed="rId2"/>
                <a:stretch>
                  <a:fillRect l="-1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EDB8AEF-9070-6613-1E10-A5CDA58FA2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7540970"/>
                  </p:ext>
                </p:extLst>
              </p:nvPr>
            </p:nvGraphicFramePr>
            <p:xfrm>
              <a:off x="420624" y="4698867"/>
              <a:ext cx="5181106" cy="1628368"/>
            </p:xfrm>
            <a:graphic>
              <a:graphicData uri="http://schemas.openxmlformats.org/drawingml/2006/table">
                <a:tbl>
                  <a:tblPr>
                    <a:tableStyleId>{F5AB1C69-6EDB-4FF4-983F-18BD219EF322}</a:tableStyleId>
                  </a:tblPr>
                  <a:tblGrid>
                    <a:gridCol w="591882">
                      <a:extLst>
                        <a:ext uri="{9D8B030D-6E8A-4147-A177-3AD203B41FA5}">
                          <a16:colId xmlns:a16="http://schemas.microsoft.com/office/drawing/2014/main" val="3590383504"/>
                        </a:ext>
                      </a:extLst>
                    </a:gridCol>
                    <a:gridCol w="1097982">
                      <a:extLst>
                        <a:ext uri="{9D8B030D-6E8A-4147-A177-3AD203B41FA5}">
                          <a16:colId xmlns:a16="http://schemas.microsoft.com/office/drawing/2014/main" val="2058045549"/>
                        </a:ext>
                      </a:extLst>
                    </a:gridCol>
                    <a:gridCol w="1423946">
                      <a:extLst>
                        <a:ext uri="{9D8B030D-6E8A-4147-A177-3AD203B41FA5}">
                          <a16:colId xmlns:a16="http://schemas.microsoft.com/office/drawing/2014/main" val="857099709"/>
                        </a:ext>
                      </a:extLst>
                    </a:gridCol>
                    <a:gridCol w="2067296">
                      <a:extLst>
                        <a:ext uri="{9D8B030D-6E8A-4147-A177-3AD203B41FA5}">
                          <a16:colId xmlns:a16="http://schemas.microsoft.com/office/drawing/2014/main" val="1684087779"/>
                        </a:ext>
                      </a:extLst>
                    </a:gridCol>
                  </a:tblGrid>
                  <a:tr h="37770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b="1" u="none" strike="noStrike">
                              <a:effectLst/>
                            </a:rPr>
                            <a:t>Category</a:t>
                          </a:r>
                          <a:endParaRPr lang="en-GB" sz="1100" b="1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b="1" u="none" strike="noStrike" dirty="0">
                              <a:effectLst/>
                            </a:rPr>
                            <a:t>Classification</a:t>
                          </a:r>
                          <a:endParaRPr lang="en-GB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b="1" u="none" strike="noStrike">
                              <a:effectLst/>
                            </a:rPr>
                            <a:t>Angle Range (</a:t>
                          </a:r>
                          <a:r>
                            <a:rPr lang="el-GR" sz="1100" b="1" u="none" strike="noStrike">
                              <a:effectLst/>
                            </a:rPr>
                            <a:t>θ)</a:t>
                          </a:r>
                          <a:endParaRPr lang="el-GR" sz="1100" b="1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b="1" u="none" strike="noStrike" dirty="0">
                              <a:effectLst/>
                            </a:rPr>
                            <a:t>Function / Surface Type</a:t>
                          </a:r>
                          <a:endParaRPr lang="en-GB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3916796"/>
                      </a:ext>
                    </a:extLst>
                  </a:tr>
                  <a:tr h="18987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1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Horizontal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GB" sz="1100" b="0" dirty="0" smtClean="0"/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1100" dirty="0" smtClean="0"/>
                                      <m:t>θ</m:t>
                                    </m:r>
                                  </m:e>
                                </m:d>
                                <m:r>
                                  <a:rPr lang="en-GB" sz="1100" dirty="0" smtClean="0"/>
                                  <m:t>≤</m:t>
                                </m:r>
                                <m:sSup>
                                  <m:sSupPr>
                                    <m:ctrlPr>
                                      <a:rPr lang="en-GB" sz="1100" dirty="0" smtClean="0"/>
                                    </m:ctrlPr>
                                  </m:sSupPr>
                                  <m:e>
                                    <m:r>
                                      <a:rPr lang="en-GB" sz="1100" dirty="0" smtClean="0"/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100" dirty="0" smtClean="0"/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l-G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accent2"/>
                            </a:buClr>
                            <a:buSzPts val="1100"/>
                            <a:buFont typeface="IBM Plex Math" panose="02060503050406000203" pitchFamily="18" charset="0"/>
                            <a:buNone/>
                            <a:tabLst/>
                            <a:defRPr/>
                          </a:pPr>
                          <a:r>
                            <a:rPr lang="en-GB" sz="1100" dirty="0"/>
                            <a:t>Primary Interlock Surface</a:t>
                          </a:r>
                          <a:endParaRPr lang="en-GB" sz="1100" i="0" dirty="0"/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34708503"/>
                      </a:ext>
                    </a:extLst>
                  </a:tr>
                  <a:tr h="30624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2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Closing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100" dirty="0" smtClean="0"/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100" dirty="0" smtClean="0"/>
                                    <m:t>θ</m:t>
                                  </m:r>
                                </m:e>
                              </m:d>
                              <m:r>
                                <a:rPr lang="en-GB" sz="1100" dirty="0" smtClean="0"/>
                                <m:t>&gt;</m:t>
                              </m:r>
                              <m:sSup>
                                <m:sSupPr>
                                  <m:ctrlPr>
                                    <a:rPr lang="en-GB" sz="1100" dirty="0" smtClean="0"/>
                                  </m:ctrlPr>
                                </m:sSupPr>
                                <m:e>
                                  <m:r>
                                    <a:rPr lang="en-GB" sz="1100" dirty="0" smtClean="0"/>
                                    <m:t>45</m:t>
                                  </m:r>
                                </m:e>
                                <m:sup>
                                  <m:r>
                                    <a:rPr lang="en-GB" sz="1100" dirty="0" smtClean="0"/>
                                    <m:t>∘</m:t>
                                  </m:r>
                                </m:sup>
                              </m:sSup>
                            </m:oMath>
                          </a14:m>
                          <a:r>
                            <a:rPr lang="en-GB" sz="1100" dirty="0"/>
                            <a:t> </a:t>
                          </a:r>
                          <a:endParaRPr lang="en-GB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accent2"/>
                            </a:buClr>
                            <a:buSzPts val="1100"/>
                            <a:buFont typeface="IBM Plex Math" panose="02060503050406000203" pitchFamily="18" charset="0"/>
                            <a:buNone/>
                            <a:tabLst/>
                            <a:defRPr/>
                          </a:pPr>
                          <a:r>
                            <a:rPr lang="en-GB" sz="1100" dirty="0"/>
                            <a:t>Adhesion Interface (Closing)</a:t>
                          </a:r>
                          <a:endParaRPr lang="en-GB" sz="1100" i="0" dirty="0"/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9036791"/>
                      </a:ext>
                    </a:extLst>
                  </a:tr>
                  <a:tr h="397263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3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 dirty="0">
                              <a:effectLst/>
                            </a:rPr>
                            <a:t>Opening Upper</a:t>
                          </a:r>
                          <a:endParaRPr lang="en-GB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100" dirty="0" smtClean="0"/>
                                    </m:ctrlPr>
                                  </m:sSupPr>
                                  <m:e>
                                    <m:r>
                                      <a:rPr lang="en-GB" sz="1100" dirty="0" smtClean="0"/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100" dirty="0" smtClean="0"/>
                                      <m:t>∘</m:t>
                                    </m:r>
                                  </m:sup>
                                </m:sSup>
                                <m:r>
                                  <a:rPr lang="en-GB" sz="1100" dirty="0" smtClean="0"/>
                                  <m:t>&lt;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1100" dirty="0" smtClean="0"/>
                                  <m:t>θ</m:t>
                                </m:r>
                                <m:r>
                                  <a:rPr lang="en-GB" sz="1100" dirty="0" smtClean="0"/>
                                  <m:t>≤</m:t>
                                </m:r>
                                <m:sSup>
                                  <m:sSupPr>
                                    <m:ctrlPr>
                                      <a:rPr lang="en-GB" sz="1100" dirty="0"/>
                                    </m:ctrlPr>
                                  </m:sSupPr>
                                  <m:e>
                                    <m:r>
                                      <a:rPr lang="en-GB" sz="1100" dirty="0" smtClean="0"/>
                                      <m:t>45</m:t>
                                    </m:r>
                                  </m:e>
                                  <m:sup>
                                    <m:r>
                                      <a:rPr lang="en-GB" sz="1100" dirty="0" smtClean="0"/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it-IT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Adhesion Interface (Opening)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07409028"/>
                      </a:ext>
                    </a:extLst>
                  </a:tr>
                  <a:tr h="357286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4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Opening Lower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100" dirty="0" smtClean="0"/>
                                  <m:t>−</m:t>
                                </m:r>
                                <m:sSup>
                                  <m:sSupPr>
                                    <m:ctrlPr>
                                      <a:rPr lang="en-GB" sz="1100" dirty="0" smtClean="0"/>
                                    </m:ctrlPr>
                                  </m:sSupPr>
                                  <m:e>
                                    <m:r>
                                      <a:rPr lang="en-GB" sz="1100" dirty="0" smtClean="0"/>
                                      <m:t>45</m:t>
                                    </m:r>
                                  </m:e>
                                  <m:sup>
                                    <m:r>
                                      <a:rPr lang="en-GB" sz="1100" dirty="0" smtClean="0"/>
                                      <m:t>∘</m:t>
                                    </m:r>
                                  </m:sup>
                                </m:sSup>
                                <m:r>
                                  <a:rPr lang="en-GB" sz="1100" dirty="0" smtClean="0"/>
                                  <m:t>≤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1100" dirty="0" smtClean="0"/>
                                  <m:t>θ</m:t>
                                </m:r>
                                <m:r>
                                  <a:rPr lang="en-GB" sz="1100" dirty="0" smtClean="0"/>
                                  <m:t>&lt;−</m:t>
                                </m:r>
                                <m:sSup>
                                  <m:sSupPr>
                                    <m:ctrlPr>
                                      <a:rPr lang="en-GB" sz="1100" dirty="0"/>
                                    </m:ctrlPr>
                                  </m:sSupPr>
                                  <m:e>
                                    <m:r>
                                      <a:rPr lang="en-GB" sz="1100" dirty="0" smtClean="0"/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sz="1100" dirty="0" smtClean="0"/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 dirty="0">
                              <a:effectLst/>
                            </a:rPr>
                            <a:t>Adhesion Interface (Opening)</a:t>
                          </a:r>
                          <a:endParaRPr lang="en-GB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35406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EDB8AEF-9070-6613-1E10-A5CDA58FA2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7540970"/>
                  </p:ext>
                </p:extLst>
              </p:nvPr>
            </p:nvGraphicFramePr>
            <p:xfrm>
              <a:off x="420624" y="4698867"/>
              <a:ext cx="5181106" cy="1628368"/>
            </p:xfrm>
            <a:graphic>
              <a:graphicData uri="http://schemas.openxmlformats.org/drawingml/2006/table">
                <a:tbl>
                  <a:tblPr>
                    <a:tableStyleId>{F5AB1C69-6EDB-4FF4-983F-18BD219EF322}</a:tableStyleId>
                  </a:tblPr>
                  <a:tblGrid>
                    <a:gridCol w="591882">
                      <a:extLst>
                        <a:ext uri="{9D8B030D-6E8A-4147-A177-3AD203B41FA5}">
                          <a16:colId xmlns:a16="http://schemas.microsoft.com/office/drawing/2014/main" val="3590383504"/>
                        </a:ext>
                      </a:extLst>
                    </a:gridCol>
                    <a:gridCol w="1097982">
                      <a:extLst>
                        <a:ext uri="{9D8B030D-6E8A-4147-A177-3AD203B41FA5}">
                          <a16:colId xmlns:a16="http://schemas.microsoft.com/office/drawing/2014/main" val="2058045549"/>
                        </a:ext>
                      </a:extLst>
                    </a:gridCol>
                    <a:gridCol w="1423946">
                      <a:extLst>
                        <a:ext uri="{9D8B030D-6E8A-4147-A177-3AD203B41FA5}">
                          <a16:colId xmlns:a16="http://schemas.microsoft.com/office/drawing/2014/main" val="857099709"/>
                        </a:ext>
                      </a:extLst>
                    </a:gridCol>
                    <a:gridCol w="2067296">
                      <a:extLst>
                        <a:ext uri="{9D8B030D-6E8A-4147-A177-3AD203B41FA5}">
                          <a16:colId xmlns:a16="http://schemas.microsoft.com/office/drawing/2014/main" val="1684087779"/>
                        </a:ext>
                      </a:extLst>
                    </a:gridCol>
                  </a:tblGrid>
                  <a:tr h="37770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b="1" u="none" strike="noStrike">
                              <a:effectLst/>
                            </a:rPr>
                            <a:t>Category</a:t>
                          </a:r>
                          <a:endParaRPr lang="en-GB" sz="1100" b="1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b="1" u="none" strike="noStrike" dirty="0">
                              <a:effectLst/>
                            </a:rPr>
                            <a:t>Classification</a:t>
                          </a:r>
                          <a:endParaRPr lang="en-GB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b="1" u="none" strike="noStrike">
                              <a:effectLst/>
                            </a:rPr>
                            <a:t>Angle Range (</a:t>
                          </a:r>
                          <a:r>
                            <a:rPr lang="el-GR" sz="1100" b="1" u="none" strike="noStrike">
                              <a:effectLst/>
                            </a:rPr>
                            <a:t>θ)</a:t>
                          </a:r>
                          <a:endParaRPr lang="el-GR" sz="1100" b="1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b="1" u="none" strike="noStrike" dirty="0">
                              <a:effectLst/>
                            </a:rPr>
                            <a:t>Function / Surface Type</a:t>
                          </a:r>
                          <a:endParaRPr lang="en-GB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3916796"/>
                      </a:ext>
                    </a:extLst>
                  </a:tr>
                  <a:tr h="18987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1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Horizontal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blipFill>
                          <a:blip r:embed="rId3"/>
                          <a:stretch>
                            <a:fillRect l="-119231" t="-203226" r="-146154" b="-57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accent2"/>
                            </a:buClr>
                            <a:buSzPts val="1100"/>
                            <a:buFont typeface="IBM Plex Math" panose="02060503050406000203" pitchFamily="18" charset="0"/>
                            <a:buNone/>
                            <a:tabLst/>
                            <a:defRPr/>
                          </a:pPr>
                          <a:r>
                            <a:rPr lang="en-GB" sz="1100" dirty="0"/>
                            <a:t>Primary Interlock Surface</a:t>
                          </a:r>
                          <a:endParaRPr lang="en-GB" sz="1100" i="0" dirty="0"/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034708503"/>
                      </a:ext>
                    </a:extLst>
                  </a:tr>
                  <a:tr h="30624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2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Closing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19231" t="-184314" r="-146154" b="-249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accent2"/>
                            </a:buClr>
                            <a:buSzPts val="1100"/>
                            <a:buFont typeface="IBM Plex Math" panose="02060503050406000203" pitchFamily="18" charset="0"/>
                            <a:buNone/>
                            <a:tabLst/>
                            <a:defRPr/>
                          </a:pPr>
                          <a:r>
                            <a:rPr lang="en-GB" sz="1100" dirty="0"/>
                            <a:t>Adhesion Interface (Closing)</a:t>
                          </a:r>
                          <a:endParaRPr lang="en-GB" sz="1100" i="0" dirty="0"/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09036791"/>
                      </a:ext>
                    </a:extLst>
                  </a:tr>
                  <a:tr h="397263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3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 dirty="0">
                              <a:effectLst/>
                            </a:rPr>
                            <a:t>Opening Upper</a:t>
                          </a:r>
                          <a:endParaRPr lang="en-GB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19231" t="-223077" r="-146154" b="-9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Adhesion Interface (Opening)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07409028"/>
                      </a:ext>
                    </a:extLst>
                  </a:tr>
                  <a:tr h="357286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4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Opening Lower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19231" t="-355932" r="-146154" b="-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 dirty="0">
                              <a:effectLst/>
                            </a:rPr>
                            <a:t>Adhesion Interface (Opening)</a:t>
                          </a:r>
                          <a:endParaRPr lang="en-GB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IBM Plex Math" panose="02060503050406000203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35406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87F0F9F-C634-0B75-A1F8-0F1FEDA365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3357166"/>
                  </p:ext>
                </p:extLst>
              </p:nvPr>
            </p:nvGraphicFramePr>
            <p:xfrm>
              <a:off x="5915303" y="4831194"/>
              <a:ext cx="5856073" cy="1363714"/>
            </p:xfrm>
            <a:graphic>
              <a:graphicData uri="http://schemas.openxmlformats.org/drawingml/2006/table">
                <a:tbl>
                  <a:tblPr>
                    <a:tableStyleId>{00A15C55-8517-42AA-B614-E9B94910E393}</a:tableStyleId>
                  </a:tblPr>
                  <a:tblGrid>
                    <a:gridCol w="435576">
                      <a:extLst>
                        <a:ext uri="{9D8B030D-6E8A-4147-A177-3AD203B41FA5}">
                          <a16:colId xmlns:a16="http://schemas.microsoft.com/office/drawing/2014/main" val="940067297"/>
                        </a:ext>
                      </a:extLst>
                    </a:gridCol>
                    <a:gridCol w="2413855">
                      <a:extLst>
                        <a:ext uri="{9D8B030D-6E8A-4147-A177-3AD203B41FA5}">
                          <a16:colId xmlns:a16="http://schemas.microsoft.com/office/drawing/2014/main" val="21081702"/>
                        </a:ext>
                      </a:extLst>
                    </a:gridCol>
                    <a:gridCol w="3006642">
                      <a:extLst>
                        <a:ext uri="{9D8B030D-6E8A-4147-A177-3AD203B41FA5}">
                          <a16:colId xmlns:a16="http://schemas.microsoft.com/office/drawing/2014/main" val="724888552"/>
                        </a:ext>
                      </a:extLst>
                    </a:gridCol>
                  </a:tblGrid>
                  <a:tr h="50646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SAEF</a:t>
                          </a:r>
                          <a:endParaRPr lang="en-GB" sz="1100" b="1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Surface Area Enhancement Factor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100" u="none" strike="noStrike" dirty="0">
                              <a:effectLst/>
                            </a:rPr>
                            <a:t>The ratio of total actual interface length to the projected seam length </a:t>
                          </a:r>
                          <a:r>
                            <a:rPr lang="en-GB" sz="1100" dirty="0"/>
                            <a:t>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dirty="0" smtClean="0"/>
                                  </m:ctrlPr>
                                </m:sSubPr>
                                <m:e>
                                  <m:r>
                                    <a:rPr lang="en-GB" sz="1100" dirty="0" smtClean="0"/>
                                    <m:t>𝐿</m:t>
                                  </m:r>
                                </m:e>
                                <m:sub>
                                  <m:r>
                                    <a:rPr lang="en-GB" sz="1100" dirty="0"/>
                                    <m:t>𝑡𝑜𝑡𝑎𝑙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GB" sz="1100" dirty="0"/>
                                <m:t>/</m:t>
                              </m:r>
                              <m:sSub>
                                <m:sSubPr>
                                  <m:ctrlPr>
                                    <a:rPr lang="en-GB" sz="1100" dirty="0"/>
                                  </m:ctrlPr>
                                </m:sSubPr>
                                <m:e>
                                  <m:r>
                                    <a:rPr lang="en-GB" sz="1100" dirty="0"/>
                                    <m:t>𝐿</m:t>
                                  </m:r>
                                </m:e>
                                <m:sub>
                                  <m:r>
                                    <a:rPr lang="en-GB" sz="1100" dirty="0"/>
                                    <m:t>𝑝𝑟𝑜𝑗𝑒𝑐𝑡𝑒𝑑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sz="1100" dirty="0"/>
                            <a:t>).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135589375"/>
                      </a:ext>
                    </a:extLst>
                  </a:tr>
                  <a:tr h="34078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MID</a:t>
                          </a:r>
                          <a:endParaRPr lang="en-GB" sz="1100" b="1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Mechanical Interlocking Depth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100" u="none" strike="noStrike">
                              <a:effectLst/>
                            </a:rPr>
                            <a:t>The maximum amplitude of the interface in the interlocking direction (X-axis span).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575258871"/>
                      </a:ext>
                    </a:extLst>
                  </a:tr>
                  <a:tr h="48587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VIR</a:t>
                          </a:r>
                          <a:endParaRPr lang="en-GB" sz="1100" b="1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Volumetric Interlock Ratio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100" u="none" strike="noStrike" dirty="0">
                              <a:effectLst/>
                            </a:rPr>
                            <a:t>Normalized ratio representing the effective geometric overlap area relative to the bounding box defined by MID and projected length.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383757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87F0F9F-C634-0B75-A1F8-0F1FEDA365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3357166"/>
                  </p:ext>
                </p:extLst>
              </p:nvPr>
            </p:nvGraphicFramePr>
            <p:xfrm>
              <a:off x="5915303" y="4831194"/>
              <a:ext cx="5856073" cy="1363714"/>
            </p:xfrm>
            <a:graphic>
              <a:graphicData uri="http://schemas.openxmlformats.org/drawingml/2006/table">
                <a:tbl>
                  <a:tblPr>
                    <a:tableStyleId>{00A15C55-8517-42AA-B614-E9B94910E393}</a:tableStyleId>
                  </a:tblPr>
                  <a:tblGrid>
                    <a:gridCol w="435576">
                      <a:extLst>
                        <a:ext uri="{9D8B030D-6E8A-4147-A177-3AD203B41FA5}">
                          <a16:colId xmlns:a16="http://schemas.microsoft.com/office/drawing/2014/main" val="940067297"/>
                        </a:ext>
                      </a:extLst>
                    </a:gridCol>
                    <a:gridCol w="2413855">
                      <a:extLst>
                        <a:ext uri="{9D8B030D-6E8A-4147-A177-3AD203B41FA5}">
                          <a16:colId xmlns:a16="http://schemas.microsoft.com/office/drawing/2014/main" val="21081702"/>
                        </a:ext>
                      </a:extLst>
                    </a:gridCol>
                    <a:gridCol w="3006642">
                      <a:extLst>
                        <a:ext uri="{9D8B030D-6E8A-4147-A177-3AD203B41FA5}">
                          <a16:colId xmlns:a16="http://schemas.microsoft.com/office/drawing/2014/main" val="724888552"/>
                        </a:ext>
                      </a:extLst>
                    </a:gridCol>
                  </a:tblGrid>
                  <a:tr h="50646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SAEF</a:t>
                          </a:r>
                          <a:endParaRPr lang="en-GB" sz="1100" b="1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Surface Area Enhancement Factor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4"/>
                          <a:stretch>
                            <a:fillRect l="-95132" t="-1190" r="-609" b="-1845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5589375"/>
                      </a:ext>
                    </a:extLst>
                  </a:tr>
                  <a:tr h="34480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MID</a:t>
                          </a:r>
                          <a:endParaRPr lang="en-GB" sz="1100" b="1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Mechanical Interlocking Depth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100" u="none" strike="noStrike">
                              <a:effectLst/>
                            </a:rPr>
                            <a:t>The maximum amplitude of the interface in the interlocking direction (X-axis span).</a:t>
                          </a:r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575258871"/>
                      </a:ext>
                    </a:extLst>
                  </a:tr>
                  <a:tr h="51244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VIR</a:t>
                          </a:r>
                          <a:endParaRPr lang="en-GB" sz="1100" b="1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GB" sz="1100" u="none" strike="noStrike">
                              <a:effectLst/>
                            </a:rPr>
                            <a:t>Volumetric Interlock Ratio</a:t>
                          </a:r>
                          <a:endParaRPr lang="en-GB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100" u="none" strike="noStrike" dirty="0">
                              <a:effectLst/>
                            </a:rPr>
                            <a:t>Normalized ratio representing the effective geometric overlap area relative to the bounding box defined by MID and projected length.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38375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2D893FC-E77D-0C36-7E4C-C7471F481D35}"/>
              </a:ext>
            </a:extLst>
          </p:cNvPr>
          <p:cNvSpPr txBox="1"/>
          <p:nvPr/>
        </p:nvSpPr>
        <p:spPr>
          <a:xfrm>
            <a:off x="420624" y="2046631"/>
            <a:ext cx="10206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Coded </a:t>
            </a:r>
            <a:r>
              <a:rPr lang="en-GB" altLang="zh-TW" dirty="0"/>
              <a:t>an</a:t>
            </a:r>
            <a:r>
              <a:rPr lang="zh-TW" altLang="en-US" dirty="0"/>
              <a:t> </a:t>
            </a:r>
            <a:r>
              <a:rPr lang="en-US" dirty="0"/>
              <a:t>automated process that used a traversal method from top to bottom to classify and label segments, calculates the sum of the segment lengths in each image, and uses this to compute three Geometric Descriptors.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351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8BD1-7016-5415-1F11-BC516F62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AE4-BAB4-AF09-43EE-F8671803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Interlocking Topology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A9C9D9-A7EA-88B6-5F35-1C5127FAF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3545"/>
            <a:ext cx="5143500" cy="3429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7BD004-510E-2A95-5B81-9AAA6889B13F}"/>
              </a:ext>
            </a:extLst>
          </p:cNvPr>
          <p:cNvSpPr txBox="1"/>
          <p:nvPr/>
        </p:nvSpPr>
        <p:spPr>
          <a:xfrm>
            <a:off x="6170139" y="2944221"/>
            <a:ext cx="5313405" cy="230832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200" dirty="0">
                <a:latin typeface="IBM Plex Mono" panose="020B0509050203000203" pitchFamily="49" charset="0"/>
              </a:rPr>
              <a:t>Found 15 valid segments.</a:t>
            </a:r>
          </a:p>
          <a:p>
            <a:endParaRPr lang="en-GB" sz="1200" dirty="0">
              <a:latin typeface="IBM Plex Mono" panose="020B0509050203000203" pitchFamily="49" charset="0"/>
            </a:endParaRPr>
          </a:p>
          <a:p>
            <a:r>
              <a:rPr lang="en-GB" sz="1200" dirty="0">
                <a:latin typeface="IBM Plex Mono" panose="020B0509050203000203" pitchFamily="49" charset="0"/>
              </a:rPr>
              <a:t>--- Segment Statistics (mm) ---</a:t>
            </a:r>
          </a:p>
          <a:p>
            <a:r>
              <a:rPr lang="en-GB" sz="1200" dirty="0">
                <a:latin typeface="IBM Plex Mono" panose="020B0509050203000203" pitchFamily="49" charset="0"/>
              </a:rPr>
              <a:t>Total CAT_HORIZONTAL Length: 0.1093</a:t>
            </a:r>
          </a:p>
          <a:p>
            <a:r>
              <a:rPr lang="en-GB" sz="1200" dirty="0">
                <a:latin typeface="IBM Plex Mono" panose="020B0509050203000203" pitchFamily="49" charset="0"/>
              </a:rPr>
              <a:t>Total CAT_CLOSING Length: 2.2933</a:t>
            </a:r>
          </a:p>
          <a:p>
            <a:r>
              <a:rPr lang="en-GB" sz="1200" dirty="0">
                <a:latin typeface="IBM Plex Mono" panose="020B0509050203000203" pitchFamily="49" charset="0"/>
              </a:rPr>
              <a:t>Total CAT_OPENING_UPPER Length: 1.2516</a:t>
            </a:r>
          </a:p>
          <a:p>
            <a:r>
              <a:rPr lang="en-GB" sz="1200" dirty="0">
                <a:latin typeface="IBM Plex Mono" panose="020B0509050203000203" pitchFamily="49" charset="0"/>
              </a:rPr>
              <a:t>Total CAT_OPENING_LOWER Length: 0.0000</a:t>
            </a:r>
          </a:p>
          <a:p>
            <a:endParaRPr lang="en-GB" sz="1200" dirty="0">
              <a:latin typeface="IBM Plex Mono" panose="020B0509050203000203" pitchFamily="49" charset="0"/>
            </a:endParaRPr>
          </a:p>
          <a:p>
            <a:r>
              <a:rPr lang="en-GB" sz="1200" dirty="0">
                <a:latin typeface="IBM Plex Mono" panose="020B0509050203000203" pitchFamily="49" charset="0"/>
              </a:rPr>
              <a:t>--- Geometric Descriptors ---</a:t>
            </a:r>
          </a:p>
          <a:p>
            <a:r>
              <a:rPr lang="en-GB" sz="1200" dirty="0">
                <a:latin typeface="IBM Plex Mono" panose="020B0509050203000203" pitchFamily="49" charset="0"/>
              </a:rPr>
              <a:t>SAEF: 1.5709</a:t>
            </a:r>
          </a:p>
          <a:p>
            <a:r>
              <a:rPr lang="en-GB" sz="1200" dirty="0">
                <a:latin typeface="IBM Plex Mono" panose="020B0509050203000203" pitchFamily="49" charset="0"/>
              </a:rPr>
              <a:t>MID: 0.6307 mm</a:t>
            </a:r>
          </a:p>
          <a:p>
            <a:r>
              <a:rPr lang="en-GB" sz="1200" dirty="0">
                <a:latin typeface="IBM Plex Mono" panose="020B0509050203000203" pitchFamily="49" charset="0"/>
              </a:rPr>
              <a:t>VIR: 0.2299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D63E14-4699-7175-8F3C-B94CD16CF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5638799"/>
            <a:ext cx="10543031" cy="854076"/>
          </a:xfrm>
        </p:spPr>
        <p:txBody>
          <a:bodyPr numCol="2">
            <a:normAutofit/>
          </a:bodyPr>
          <a:lstStyle/>
          <a:p>
            <a:r>
              <a:rPr lang="en-GB" sz="2000" dirty="0"/>
              <a:t>Categorized and </a:t>
            </a:r>
            <a:r>
              <a:rPr lang="en-GB" sz="2000" dirty="0" err="1"/>
              <a:t>Labeled</a:t>
            </a:r>
            <a:r>
              <a:rPr lang="en-GB" sz="2000" dirty="0"/>
              <a:t> Segments</a:t>
            </a:r>
          </a:p>
          <a:p>
            <a:r>
              <a:rPr lang="en-GB" sz="2000" dirty="0"/>
              <a:t>Statistics Output </a:t>
            </a:r>
          </a:p>
        </p:txBody>
      </p:sp>
    </p:spTree>
    <p:extLst>
      <p:ext uri="{BB962C8B-B14F-4D97-AF65-F5344CB8AC3E}">
        <p14:creationId xmlns:p14="http://schemas.microsoft.com/office/powerpoint/2010/main" val="600748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E74E-1140-15A8-8736-374F7AE3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3" y="365125"/>
            <a:ext cx="11598381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200" dirty="0"/>
              <a:t>Learning FEA Workflow </a:t>
            </a:r>
            <a:br>
              <a:rPr lang="en-GB" sz="3200" dirty="0"/>
            </a:br>
            <a:r>
              <a:rPr lang="en-GB" sz="3200" dirty="0"/>
              <a:t>— Mixed mesh model Simulation and Optimisation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6CA52-13A3-8F6B-6BE8-0DC09792D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3" y="1690688"/>
            <a:ext cx="10543031" cy="4206383"/>
          </a:xfrm>
        </p:spPr>
        <p:txBody>
          <a:bodyPr/>
          <a:lstStyle/>
          <a:p>
            <a:r>
              <a:rPr lang="en-GB" dirty="0"/>
              <a:t>Mesh generation and combination</a:t>
            </a:r>
          </a:p>
          <a:p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9365B9-F873-36E2-DD1A-6943DF414B33}"/>
              </a:ext>
            </a:extLst>
          </p:cNvPr>
          <p:cNvGrpSpPr/>
          <p:nvPr/>
        </p:nvGrpSpPr>
        <p:grpSpPr>
          <a:xfrm>
            <a:off x="2690306" y="3540701"/>
            <a:ext cx="8336256" cy="2892595"/>
            <a:chOff x="647323" y="2881674"/>
            <a:chExt cx="8336256" cy="289259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BC23DDA-02B9-6291-121E-CA3C41FC2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323" y="2881674"/>
              <a:ext cx="8336256" cy="2531715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5CDFA911-2C9C-50C0-0E7A-F8E7BCE3DF81}"/>
                </a:ext>
              </a:extLst>
            </p:cNvPr>
            <p:cNvSpPr/>
            <p:nvPr/>
          </p:nvSpPr>
          <p:spPr>
            <a:xfrm>
              <a:off x="2939161" y="5518896"/>
              <a:ext cx="1008507" cy="255373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C1AB64B7-A7E4-A532-1878-742631BD9911}"/>
                </a:ext>
              </a:extLst>
            </p:cNvPr>
            <p:cNvSpPr/>
            <p:nvPr/>
          </p:nvSpPr>
          <p:spPr>
            <a:xfrm>
              <a:off x="5718073" y="5518895"/>
              <a:ext cx="1008508" cy="255373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4160262-D6CD-5A60-4E81-6D2AB91F1087}"/>
              </a:ext>
            </a:extLst>
          </p:cNvPr>
          <p:cNvSpPr txBox="1"/>
          <p:nvPr/>
        </p:nvSpPr>
        <p:spPr>
          <a:xfrm>
            <a:off x="2690306" y="2798186"/>
            <a:ext cx="2718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Geometry Input</a:t>
            </a:r>
          </a:p>
          <a:p>
            <a:pPr algn="ctr"/>
            <a:r>
              <a:rPr lang="en-GB" sz="1600" dirty="0"/>
              <a:t>(Piecewise Linear Complex)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C61445-C574-5441-DDCA-A08B01C5D497}"/>
              </a:ext>
            </a:extLst>
          </p:cNvPr>
          <p:cNvSpPr txBox="1"/>
          <p:nvPr/>
        </p:nvSpPr>
        <p:spPr>
          <a:xfrm>
            <a:off x="5499191" y="2921295"/>
            <a:ext cx="271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Triangular Surface Mesh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6E687E-1D10-A5B6-CF16-43FD0281B6BD}"/>
              </a:ext>
            </a:extLst>
          </p:cNvPr>
          <p:cNvSpPr txBox="1"/>
          <p:nvPr/>
        </p:nvSpPr>
        <p:spPr>
          <a:xfrm>
            <a:off x="8265310" y="2921295"/>
            <a:ext cx="2718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Volumetric Tetrahedral Mesh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ABB83A-A978-2790-1429-283505F85CC4}"/>
              </a:ext>
            </a:extLst>
          </p:cNvPr>
          <p:cNvSpPr txBox="1"/>
          <p:nvPr/>
        </p:nvSpPr>
        <p:spPr>
          <a:xfrm>
            <a:off x="7175161" y="2179146"/>
            <a:ext cx="2308324" cy="6190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GB" sz="13800" dirty="0">
                <a:solidFill>
                  <a:schemeClr val="accent5">
                    <a:lumMod val="75000"/>
                  </a:schemeClr>
                </a:solidFill>
                <a:latin typeface="IBM Plex Math" panose="02060503050406000203" pitchFamily="18" charset="0"/>
                <a:ea typeface="IBM Plex Math" panose="02060503050406000203" pitchFamily="18" charset="0"/>
              </a:rPr>
              <a:t>{</a:t>
            </a:r>
          </a:p>
        </p:txBody>
      </p:sp>
    </p:spTree>
    <p:extLst>
      <p:ext uri="{BB962C8B-B14F-4D97-AF65-F5344CB8AC3E}">
        <p14:creationId xmlns:p14="http://schemas.microsoft.com/office/powerpoint/2010/main" val="810869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CD6D3-1636-4D8E-BEFF-DF9284B98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2963" y="5425452"/>
            <a:ext cx="6647934" cy="186503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600" dirty="0"/>
              <a:t>Tetrahedral Mesh Workflow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2D8844-7DD3-52E4-4B71-7C5658E95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51" y="367420"/>
            <a:ext cx="7024857" cy="610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60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6DA5-DEB7-929D-30A9-6B19C8FB8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10944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3200" dirty="0" err="1"/>
              <a:t>Pyvista</a:t>
            </a:r>
            <a:r>
              <a:rPr lang="en-GB" sz="3200" dirty="0"/>
              <a:t> – </a:t>
            </a:r>
            <a:r>
              <a:rPr lang="en-GB" sz="3200" dirty="0" err="1"/>
              <a:t>Tetgen</a:t>
            </a:r>
            <a:r>
              <a:rPr lang="en-GB" sz="3200" dirty="0"/>
              <a:t> – </a:t>
            </a:r>
            <a:r>
              <a:rPr lang="en-GB" sz="3200" dirty="0" err="1"/>
              <a:t>gmsh</a:t>
            </a:r>
            <a:r>
              <a:rPr lang="en-GB" sz="3200" dirty="0"/>
              <a:t> – </a:t>
            </a:r>
            <a:r>
              <a:rPr lang="en-GB" sz="3200" dirty="0" err="1"/>
              <a:t>FEniCS</a:t>
            </a:r>
            <a:r>
              <a:rPr lang="en-GB" sz="3200" dirty="0"/>
              <a:t>   Toolchain</a:t>
            </a:r>
            <a:br>
              <a:rPr lang="en-GB" sz="3200" dirty="0"/>
            </a:br>
            <a:r>
              <a:rPr lang="en-GB" sz="3200" dirty="0"/>
              <a:t>Result Visualisation in </a:t>
            </a:r>
            <a:r>
              <a:rPr lang="en-GB" sz="3200" dirty="0" err="1"/>
              <a:t>Paraview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B0D76-62D4-9731-9837-F34D9D2C9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989" y="2308562"/>
            <a:ext cx="11425386" cy="538633"/>
          </a:xfrm>
        </p:spPr>
        <p:txBody>
          <a:bodyPr numCol="2">
            <a:normAutofit/>
          </a:bodyPr>
          <a:lstStyle/>
          <a:p>
            <a:r>
              <a:rPr lang="en-GB" sz="1800" dirty="0"/>
              <a:t>Von Mises stress plot</a:t>
            </a:r>
          </a:p>
          <a:p>
            <a:r>
              <a:rPr lang="en-GB" sz="1800" dirty="0"/>
              <a:t>Displacement (Z) plot</a:t>
            </a:r>
          </a:p>
        </p:txBody>
      </p:sp>
      <p:pic>
        <p:nvPicPr>
          <p:cNvPr id="5" name="Picture 4" descr="A colorful lines on a grey background&#10;&#10;AI-generated content may be incorrect.">
            <a:extLst>
              <a:ext uri="{FF2B5EF4-FFF2-40B4-BE49-F238E27FC236}">
                <a16:creationId xmlns:a16="http://schemas.microsoft.com/office/drawing/2014/main" id="{161BC19A-27F9-347F-C1D5-32DB2AE623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5" b="643"/>
          <a:stretch>
            <a:fillRect/>
          </a:stretch>
        </p:blipFill>
        <p:spPr>
          <a:xfrm>
            <a:off x="6256421" y="2847195"/>
            <a:ext cx="5514954" cy="3676636"/>
          </a:xfrm>
          <a:prstGeom prst="rect">
            <a:avLst/>
          </a:prstGeom>
        </p:spPr>
      </p:pic>
      <p:pic>
        <p:nvPicPr>
          <p:cNvPr id="7" name="Picture 6" descr="A blue and orange wireframe&#10;&#10;AI-generated content may be incorrect.">
            <a:extLst>
              <a:ext uri="{FF2B5EF4-FFF2-40B4-BE49-F238E27FC236}">
                <a16:creationId xmlns:a16="http://schemas.microsoft.com/office/drawing/2014/main" id="{B5A41209-C681-2CCD-A6A6-53E16355D8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0" b="927"/>
          <a:stretch>
            <a:fillRect/>
          </a:stretch>
        </p:blipFill>
        <p:spPr>
          <a:xfrm>
            <a:off x="420625" y="2847196"/>
            <a:ext cx="5514954" cy="367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50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Offset</Template>
  <TotalTime>711</TotalTime>
  <Words>318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Cambria Math</vt:lpstr>
      <vt:lpstr>IBM Plex Math</vt:lpstr>
      <vt:lpstr>IBM Plex Mono</vt:lpstr>
      <vt:lpstr>IBM Plex Serif</vt:lpstr>
      <vt:lpstr>Wingdings 2</vt:lpstr>
      <vt:lpstr>OffsetVTI</vt:lpstr>
      <vt:lpstr>FA25ProgressReport_Lucas</vt:lpstr>
      <vt:lpstr>Interlocking Topology</vt:lpstr>
      <vt:lpstr>Interlocking Topology</vt:lpstr>
      <vt:lpstr>Learning FEA Workflow  — Mixed mesh model Simulation and Optimisation </vt:lpstr>
      <vt:lpstr>PowerPoint Presentation</vt:lpstr>
      <vt:lpstr>Pyvista – Tetgen – gmsh – FEniCS   Toolchain Result Visualisation in Paraview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Chen</dc:creator>
  <cp:lastModifiedBy>Lucas Chen</cp:lastModifiedBy>
  <cp:revision>22</cp:revision>
  <dcterms:created xsi:type="dcterms:W3CDTF">2025-11-17T20:55:04Z</dcterms:created>
  <dcterms:modified xsi:type="dcterms:W3CDTF">2025-11-25T00:25:39Z</dcterms:modified>
</cp:coreProperties>
</file>