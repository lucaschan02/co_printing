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3" r:id="rId1"/>
  </p:sldMasterIdLst>
  <p:sldIdLst>
    <p:sldId id="256" r:id="rId2"/>
    <p:sldId id="257" r:id="rId3"/>
    <p:sldId id="262"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E582AFF-9F9D-41BA-AEF4-80B6400BAA5C}">
          <p14:sldIdLst>
            <p14:sldId id="256"/>
            <p14:sldId id="257"/>
            <p14:sldId id="262"/>
          </p14:sldIdLst>
        </p14:section>
        <p14:section name="Untitled Section" id="{8A6AA458-25DE-4F9C-B2F4-CE562796205E}">
          <p14:sldIdLst>
            <p14:sldId id="259"/>
            <p14:sldId id="261"/>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116" d="100"/>
          <a:sy n="116" d="100"/>
        </p:scale>
        <p:origin x="10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524000" y="1463557"/>
            <a:ext cx="9144000" cy="2387600"/>
          </a:xfrm>
        </p:spPr>
        <p:txBody>
          <a:bodyPr anchor="b">
            <a:normAutofit/>
          </a:bodyPr>
          <a:lstStyle>
            <a:lvl1pPr algn="ctr">
              <a:lnSpc>
                <a:spcPct val="90000"/>
              </a:lnSpc>
              <a:defRPr sz="52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524000" y="3943232"/>
            <a:ext cx="9144000" cy="1655762"/>
          </a:xfrm>
        </p:spPr>
        <p:txBody>
          <a:bodyPr>
            <a:normAutofit/>
          </a:bodyPr>
          <a:lstStyle>
            <a:lvl1pPr marL="0" indent="0" algn="ctr">
              <a:lnSpc>
                <a:spcPts val="32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CC1D965B-87A4-4F43-BE02-800BCCDF42EF}"/>
              </a:ext>
            </a:extLst>
          </p:cNvPr>
          <p:cNvSpPr>
            <a:spLocks noGrp="1"/>
          </p:cNvSpPr>
          <p:nvPr>
            <p:ph type="dt" sz="half" idx="10"/>
          </p:nvPr>
        </p:nvSpPr>
        <p:spPr>
          <a:xfrm>
            <a:off x="420624" y="6217920"/>
            <a:ext cx="2743200" cy="640080"/>
          </a:xfrm>
        </p:spPr>
        <p:txBody>
          <a:bodyPr anchor="ctr" anchorCtr="0"/>
          <a:lstStyle/>
          <a:p>
            <a:fld id="{403CB87E-4591-47A1-9046-CF63F17215EF}" type="datetime2">
              <a:rPr lang="en-US" smtClean="0"/>
              <a:t>Monday, November 17, 2025</a:t>
            </a:fld>
            <a:endParaRPr lang="en-US" dirty="0"/>
          </a:p>
        </p:txBody>
      </p:sp>
      <p:sp>
        <p:nvSpPr>
          <p:cNvPr id="5" name="Footer Placeholder 4">
            <a:extLst>
              <a:ext uri="{FF2B5EF4-FFF2-40B4-BE49-F238E27FC236}">
                <a16:creationId xmlns:a16="http://schemas.microsoft.com/office/drawing/2014/main" id="{389ED35B-CBF1-40D9-BAA7-CF9E1E22B8FC}"/>
              </a:ext>
            </a:extLst>
          </p:cNvPr>
          <p:cNvSpPr>
            <a:spLocks noGrp="1"/>
          </p:cNvSpPr>
          <p:nvPr>
            <p:ph type="ftr" sz="quarter" idx="11"/>
          </p:nvPr>
        </p:nvSpPr>
        <p:spPr>
          <a:xfrm>
            <a:off x="3767328" y="6217920"/>
            <a:ext cx="7196328" cy="640080"/>
          </a:xfrm>
        </p:spPr>
        <p:txBody>
          <a:bodyPr anchor="ctr" anchorCtr="0"/>
          <a:lstStyle/>
          <a:p>
            <a:r>
              <a:rPr lang="en-US" dirty="0"/>
              <a:t>Sample Footer Text</a:t>
            </a:r>
          </a:p>
        </p:txBody>
      </p:sp>
      <p:sp>
        <p:nvSpPr>
          <p:cNvPr id="6" name="Slide Number Placeholder 5">
            <a:extLst>
              <a:ext uri="{FF2B5EF4-FFF2-40B4-BE49-F238E27FC236}">
                <a16:creationId xmlns:a16="http://schemas.microsoft.com/office/drawing/2014/main" id="{3D26653A-450D-4BDE-8718-99F2D9314259}"/>
              </a:ext>
            </a:extLst>
          </p:cNvPr>
          <p:cNvSpPr>
            <a:spLocks noGrp="1"/>
          </p:cNvSpPr>
          <p:nvPr>
            <p:ph type="sldNum" sz="quarter" idx="12"/>
          </p:nvPr>
        </p:nvSpPr>
        <p:spPr>
          <a:xfrm>
            <a:off x="11503152" y="0"/>
            <a:ext cx="685800" cy="685800"/>
          </a:xfrm>
        </p:spPr>
        <p:txBody>
          <a:bodyPr/>
          <a:lstStyle>
            <a:lvl1pPr algn="ctr">
              <a:defRPr/>
            </a:lvl1pPr>
          </a:lstStyle>
          <a:p>
            <a:fld id="{3A4F6043-7A67-491B-98BC-F933DED7226D}" type="slidenum">
              <a:rPr lang="en-US" smtClean="0"/>
              <a:t>‹#›</a:t>
            </a:fld>
            <a:endParaRPr lang="en-US"/>
          </a:p>
        </p:txBody>
      </p:sp>
    </p:spTree>
    <p:extLst>
      <p:ext uri="{BB962C8B-B14F-4D97-AF65-F5344CB8AC3E}">
        <p14:creationId xmlns:p14="http://schemas.microsoft.com/office/powerpoint/2010/main" val="107067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a:xfrm>
            <a:off x="420624" y="365125"/>
            <a:ext cx="10543032" cy="1325563"/>
          </a:xfrm>
        </p:spPr>
        <p:txBody>
          <a:bodyPr>
            <a:normAutofit/>
          </a:bodyPr>
          <a:lstStyle>
            <a:lvl1pPr>
              <a:lnSpc>
                <a:spcPct val="90000"/>
              </a:lnSpc>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5" y="1825625"/>
            <a:ext cx="10543031" cy="4206383"/>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38D1A7D4-E57E-4789-896B-B2A051BF94F6}"/>
              </a:ext>
            </a:extLst>
          </p:cNvPr>
          <p:cNvSpPr>
            <a:spLocks noGrp="1"/>
          </p:cNvSpPr>
          <p:nvPr>
            <p:ph type="dt" sz="half" idx="10"/>
          </p:nvPr>
        </p:nvSpPr>
        <p:spPr>
          <a:xfrm>
            <a:off x="420624" y="6217920"/>
            <a:ext cx="2743200" cy="640080"/>
          </a:xfrm>
        </p:spPr>
        <p:txBody>
          <a:bodyPr/>
          <a:lstStyle>
            <a:lvl1pPr>
              <a:defRPr>
                <a:solidFill>
                  <a:schemeClr val="tx2"/>
                </a:solidFill>
              </a:defRPr>
            </a:lvl1pPr>
          </a:lstStyle>
          <a:p>
            <a:fld id="{F33DE70B-B772-416E-A790-995760B1742E}" type="datetime2">
              <a:rPr lang="en-US" smtClean="0"/>
              <a:t>Monday, November 17, 2025</a:t>
            </a:fld>
            <a:endParaRPr lang="en-US" dirty="0"/>
          </a:p>
        </p:txBody>
      </p:sp>
      <p:sp>
        <p:nvSpPr>
          <p:cNvPr id="5" name="Footer Placeholder 4">
            <a:extLst>
              <a:ext uri="{FF2B5EF4-FFF2-40B4-BE49-F238E27FC236}">
                <a16:creationId xmlns:a16="http://schemas.microsoft.com/office/drawing/2014/main" id="{A07B63EE-3B35-4F8A-BDA3-E778BFE14CA1}"/>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C8339EF2-7937-4C30-A883-7F7BD02802BC}"/>
              </a:ext>
            </a:extLst>
          </p:cNvPr>
          <p:cNvSpPr>
            <a:spLocks noGrp="1"/>
          </p:cNvSpPr>
          <p:nvPr>
            <p:ph type="sldNum" sz="quarter" idx="12"/>
          </p:nvPr>
        </p:nvSpPr>
        <p:spPr/>
        <p:txBody>
          <a:bodyPr/>
          <a:lstStyle>
            <a:lvl1pPr algn="ctr">
              <a:defRPr>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587281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43032" cy="2852737"/>
          </a:xfrm>
        </p:spPr>
        <p:txBody>
          <a:bodyPr anchor="b">
            <a:normAutofit/>
          </a:bodyPr>
          <a:lstStyle>
            <a:lvl1pPr>
              <a:defRPr sz="44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43032" cy="1500187"/>
          </a:xfrm>
        </p:spPr>
        <p:txBody>
          <a:bodyPr>
            <a:no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a:lstStyle/>
          <a:p>
            <a:fld id="{76760CDE-A6F1-4138-AF12-ED09E8E5FB6B}" type="datetime2">
              <a:rPr lang="en-US" smtClean="0"/>
              <a:t>Monday, November 17, 2025</a:t>
            </a:fld>
            <a:endParaRPr lang="en-US"/>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719606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a:xfrm>
            <a:off x="420624" y="365125"/>
            <a:ext cx="10543032" cy="1325563"/>
          </a:xfrm>
        </p:spPr>
        <p:txBody>
          <a:bodyPr>
            <a:normAutofit/>
          </a:bodyPr>
          <a:lstStyle>
            <a:lvl1pPr>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599176" cy="4206382"/>
          </a:xfrm>
        </p:spPr>
        <p:txBody>
          <a:bodyPr/>
          <a:lstStyle>
            <a:lvl1pPr marL="457200" indent="-457200">
              <a:buFont typeface="Wingdings 2" panose="05020102010507070707" pitchFamily="18" charset="2"/>
              <a:buChar char="¬"/>
              <a:defRPr/>
            </a:lvl1pPr>
            <a:lvl2pPr marL="800100" indent="-342900">
              <a:buFont typeface="Wingdings 2" panose="05020102010507070707" pitchFamily="18" charset="2"/>
              <a:buChar char="¬"/>
              <a:defRPr/>
            </a:lvl2pPr>
            <a:lvl3pPr marL="1257300" indent="-342900">
              <a:buFont typeface="Wingdings 2" panose="05020102010507070707" pitchFamily="18" charset="2"/>
              <a:buChar char="¬"/>
              <a:defRPr/>
            </a:lvl3pPr>
            <a:lvl4pPr marL="1657350" indent="-285750">
              <a:buFont typeface="Wingdings 2" panose="05020102010507070707" pitchFamily="18" charset="2"/>
              <a:buChar char="¬"/>
              <a:defRPr/>
            </a:lvl4pPr>
            <a:lvl5pPr marL="2114550" indent="-285750">
              <a:buFont typeface="Wingdings 2" panose="05020102010507070707" pitchFamily="18" charset="2"/>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6172200" y="1825625"/>
            <a:ext cx="479145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3FA1B49-6AAA-4DA7-970F-B75899F1AB51}"/>
              </a:ext>
            </a:extLst>
          </p:cNvPr>
          <p:cNvSpPr>
            <a:spLocks noGrp="1"/>
          </p:cNvSpPr>
          <p:nvPr>
            <p:ph type="dt" sz="half" idx="10"/>
          </p:nvPr>
        </p:nvSpPr>
        <p:spPr/>
        <p:txBody>
          <a:bodyPr/>
          <a:lstStyle/>
          <a:p>
            <a:fld id="{DB15F8B1-DB7B-4D28-A97D-40FB2DD1EF78}" type="datetime2">
              <a:rPr lang="en-US" smtClean="0"/>
              <a:t>Monday, November 17, 2025</a:t>
            </a:fld>
            <a:endParaRPr lang="en-US"/>
          </a:p>
        </p:txBody>
      </p:sp>
      <p:sp>
        <p:nvSpPr>
          <p:cNvPr id="6" name="Footer Placeholder 5">
            <a:extLst>
              <a:ext uri="{FF2B5EF4-FFF2-40B4-BE49-F238E27FC236}">
                <a16:creationId xmlns:a16="http://schemas.microsoft.com/office/drawing/2014/main" id="{DEE3649A-B9A2-4737-B47E-758DC140688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50C1407-C705-451C-878E-8175DCCD500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1893197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a:normAutofit/>
          </a:bodyPr>
          <a:lstStyle>
            <a:lvl1pPr>
              <a:defRPr sz="52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a:lstStyle/>
          <a:p>
            <a:fld id="{14039161-23B8-4738-9069-73EBE8884FDD}" type="datetime2">
              <a:rPr lang="en-US" smtClean="0"/>
              <a:t>Monday, November 17, 2025</a:t>
            </a:fld>
            <a:endParaRPr lang="en-US"/>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191478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43032" cy="1325563"/>
          </a:xfrm>
        </p:spPr>
        <p:txBody>
          <a:bodyPr>
            <a:normAutofit/>
          </a:bodyPr>
          <a:lstStyle>
            <a:lvl1pPr>
              <a:defRPr sz="52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D443A871-5A76-4349-99F0-C46C77380477}"/>
              </a:ext>
            </a:extLst>
          </p:cNvPr>
          <p:cNvSpPr>
            <a:spLocks noGrp="1"/>
          </p:cNvSpPr>
          <p:nvPr>
            <p:ph type="dt" sz="half" idx="10"/>
          </p:nvPr>
        </p:nvSpPr>
        <p:spPr/>
        <p:txBody>
          <a:bodyPr/>
          <a:lstStyle/>
          <a:p>
            <a:fld id="{FA994D44-7693-499F-AC6C-11696134FE3F}" type="datetime2">
              <a:rPr lang="en-US" smtClean="0"/>
              <a:t>Monday, November 17, 2025</a:t>
            </a:fld>
            <a:endParaRPr lang="en-US"/>
          </a:p>
        </p:txBody>
      </p:sp>
      <p:sp>
        <p:nvSpPr>
          <p:cNvPr id="4" name="Footer Placeholder 3">
            <a:extLst>
              <a:ext uri="{FF2B5EF4-FFF2-40B4-BE49-F238E27FC236}">
                <a16:creationId xmlns:a16="http://schemas.microsoft.com/office/drawing/2014/main" id="{F472E803-8BD9-40A2-8389-C19DA11480E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05414ED-B772-4B84-813E-E34C9A97C05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891336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a:lstStyle/>
          <a:p>
            <a:fld id="{363AF2AE-472C-4EF3-ABB2-24BAA9AE3CF7}" type="datetime2">
              <a:rPr lang="en-US" smtClean="0"/>
              <a:t>Monday, November 17, 2025</a:t>
            </a:fld>
            <a:endParaRPr lang="en-US"/>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62990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43032" cy="1600200"/>
          </a:xfrm>
        </p:spPr>
        <p:txBody>
          <a:bodyPr anchor="b">
            <a:noAutofit/>
          </a:bodyPr>
          <a:lstStyle>
            <a:lvl1pPr>
              <a:defRPr sz="5200">
                <a:latin typeface="IBM Plex Serif" panose="02060503050406000203" pitchFamily="18" charset="0"/>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5183188" y="2199340"/>
            <a:ext cx="5780468"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794813E-250B-4422-AE46-5E1AB964A417}"/>
              </a:ext>
            </a:extLst>
          </p:cNvPr>
          <p:cNvSpPr>
            <a:spLocks noGrp="1"/>
          </p:cNvSpPr>
          <p:nvPr>
            <p:ph type="dt" sz="half" idx="10"/>
          </p:nvPr>
        </p:nvSpPr>
        <p:spPr>
          <a:xfrm>
            <a:off x="420624" y="6217920"/>
            <a:ext cx="2743200" cy="640080"/>
          </a:xfrm>
        </p:spPr>
        <p:txBody>
          <a:bodyPr/>
          <a:lstStyle/>
          <a:p>
            <a:fld id="{EAEA162C-A7C1-4263-9453-1BAFF8C39559}" type="datetime2">
              <a:rPr lang="en-US" smtClean="0"/>
              <a:t>Monday, November 17, 2025</a:t>
            </a:fld>
            <a:endParaRPr lang="en-US"/>
          </a:p>
        </p:txBody>
      </p:sp>
      <p:sp>
        <p:nvSpPr>
          <p:cNvPr id="6" name="Footer Placeholder 5">
            <a:extLst>
              <a:ext uri="{FF2B5EF4-FFF2-40B4-BE49-F238E27FC236}">
                <a16:creationId xmlns:a16="http://schemas.microsoft.com/office/drawing/2014/main" id="{61CB5B81-E9CC-45F3-8EF1-35D2C8FF15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5DA7E97-5A73-4602-9582-6CDACB9185F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175851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4489180" cy="1600200"/>
          </a:xfrm>
        </p:spPr>
        <p:txBody>
          <a:bodyPr anchor="b">
            <a:normAutofit/>
          </a:bodyPr>
          <a:lstStyle>
            <a:lvl1pPr>
              <a:defRPr sz="4400"/>
            </a:lvl1pPr>
          </a:lstStyle>
          <a:p>
            <a:r>
              <a:rPr lang="en-GB"/>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5183188"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AF6305-9768-4792-866C-91238D45695D}"/>
              </a:ext>
            </a:extLst>
          </p:cNvPr>
          <p:cNvSpPr>
            <a:spLocks noGrp="1"/>
          </p:cNvSpPr>
          <p:nvPr>
            <p:ph type="dt" sz="half" idx="10"/>
          </p:nvPr>
        </p:nvSpPr>
        <p:spPr>
          <a:xfrm>
            <a:off x="420624" y="6217920"/>
            <a:ext cx="2743200" cy="640080"/>
          </a:xfrm>
        </p:spPr>
        <p:txBody>
          <a:bodyPr/>
          <a:lstStyle/>
          <a:p>
            <a:fld id="{64DF6793-3458-4587-8168-65F0C37A92D2}" type="datetime2">
              <a:rPr lang="en-US" smtClean="0"/>
              <a:t>Monday, November 17, 2025</a:t>
            </a:fld>
            <a:endParaRPr lang="en-US"/>
          </a:p>
        </p:txBody>
      </p:sp>
      <p:sp>
        <p:nvSpPr>
          <p:cNvPr id="6" name="Footer Placeholder 5">
            <a:extLst>
              <a:ext uri="{FF2B5EF4-FFF2-40B4-BE49-F238E27FC236}">
                <a16:creationId xmlns:a16="http://schemas.microsoft.com/office/drawing/2014/main" id="{2CDBF050-0FF1-499F-936E-FAAE50DC3D3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902C2E-1542-46B4-85B1-7A4B3F7724FC}"/>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581698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CB8191-8A0C-4077-9A2D-0255BF81A9D0}"/>
              </a:ext>
            </a:extLst>
          </p:cNvPr>
          <p:cNvSpPr>
            <a:spLocks noGrp="1"/>
          </p:cNvSpPr>
          <p:nvPr>
            <p:ph type="dt" sz="half" idx="10"/>
          </p:nvPr>
        </p:nvSpPr>
        <p:spPr/>
        <p:txBody>
          <a:bodyPr/>
          <a:lstStyle/>
          <a:p>
            <a:fld id="{2FA17F0E-8070-4DFE-A821-9A699EDBAD7E}" type="datetime2">
              <a:rPr lang="en-US" smtClean="0"/>
              <a:t>Monday, November 17, 2025</a:t>
            </a:fld>
            <a:endParaRPr lang="en-US"/>
          </a:p>
        </p:txBody>
      </p:sp>
      <p:sp>
        <p:nvSpPr>
          <p:cNvPr id="5" name="Footer Placeholder 4">
            <a:extLst>
              <a:ext uri="{FF2B5EF4-FFF2-40B4-BE49-F238E27FC236}">
                <a16:creationId xmlns:a16="http://schemas.microsoft.com/office/drawing/2014/main" id="{BF441B40-57AC-45F3-9AAC-DC2BEBB1218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B6D65F4-29FA-451A-878F-768E426A7EDA}"/>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927412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31141D6-1E1A-4A54-A9B4-57F86865FC03}"/>
              </a:ext>
            </a:extLst>
          </p:cNvPr>
          <p:cNvSpPr>
            <a:spLocks noGrp="1"/>
          </p:cNvSpPr>
          <p:nvPr>
            <p:ph type="dt" sz="half" idx="10"/>
          </p:nvPr>
        </p:nvSpPr>
        <p:spPr/>
        <p:txBody>
          <a:bodyPr/>
          <a:lstStyle/>
          <a:p>
            <a:fld id="{D88D34AE-C7BF-46E5-A968-01C6641F6476}" type="datetime2">
              <a:rPr lang="en-US" smtClean="0"/>
              <a:t>Monday, November 17, 2025</a:t>
            </a:fld>
            <a:endParaRPr lang="en-US"/>
          </a:p>
        </p:txBody>
      </p:sp>
      <p:sp>
        <p:nvSpPr>
          <p:cNvPr id="5" name="Footer Placeholder 4">
            <a:extLst>
              <a:ext uri="{FF2B5EF4-FFF2-40B4-BE49-F238E27FC236}">
                <a16:creationId xmlns:a16="http://schemas.microsoft.com/office/drawing/2014/main" id="{E57541D6-4702-4421-AEB2-D6CA3AADBA4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C3C9F43-CD60-4C38-94C9-0E6D3B7224F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1337318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86836B-C327-49CB-ADF2-2E730C4A91BF}"/>
              </a:ext>
            </a:extLst>
          </p:cNvPr>
          <p:cNvSpPr/>
          <p:nvPr/>
        </p:nvSpPr>
        <p:spPr>
          <a:xfrm>
            <a:off x="0"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BM Plex Serif" panose="02060503050406000203" pitchFamily="18" charset="0"/>
            </a:endParaRPr>
          </a:p>
        </p:txBody>
      </p:sp>
      <p:sp>
        <p:nvSpPr>
          <p:cNvPr id="9" name="Rectangle 8">
            <a:extLst>
              <a:ext uri="{FF2B5EF4-FFF2-40B4-BE49-F238E27FC236}">
                <a16:creationId xmlns:a16="http://schemas.microsoft.com/office/drawing/2014/main" id="{88310F61-136C-42B3-981B-FDE3DD0A8135}"/>
              </a:ext>
            </a:extLst>
          </p:cNvPr>
          <p:cNvSpPr/>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BM Plex Serif" panose="02060503050406000203" pitchFamily="18" charset="0"/>
            </a:endParaRPr>
          </a:p>
        </p:txBody>
      </p: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43032"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43032"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latin typeface="IBM Plex Serif" panose="02060503050406000203" pitchFamily="18" charset="0"/>
              </a:defRPr>
            </a:lvl1pPr>
          </a:lstStyle>
          <a:p>
            <a:fld id="{E8352ED3-3C46-4C9A-9738-67B2D875E7E2}" type="datetime2">
              <a:rPr lang="en-US" smtClean="0"/>
              <a:pPr/>
              <a:t>Monday, November 17, 2025</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latin typeface="IBM Plex Serif" panose="02060503050406000203" pitchFamily="18" charset="0"/>
              </a:defRPr>
            </a:lvl1pPr>
          </a:lstStyle>
          <a:p>
            <a:r>
              <a:rPr lang="en-US" dirty="0"/>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latin typeface="IBM Plex Serif" panose="02060503050406000203" pitchFamily="18" charset="0"/>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813505422"/>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hf sldNum="0" hdr="0" ftr="0" dt="0"/>
  <p:txStyles>
    <p:titleStyle>
      <a:lvl1pPr algn="l" defTabSz="914400" rtl="0" eaLnBrk="1" latinLnBrk="0" hangingPunct="1">
        <a:lnSpc>
          <a:spcPct val="90000"/>
        </a:lnSpc>
        <a:spcBef>
          <a:spcPct val="0"/>
        </a:spcBef>
        <a:buNone/>
        <a:defRPr sz="4400" kern="1200">
          <a:solidFill>
            <a:schemeClr val="tx2"/>
          </a:solidFill>
          <a:latin typeface="IBM Plex Serif" panose="02060503050406000203" pitchFamily="18" charset="0"/>
          <a:ea typeface="+mj-ea"/>
          <a:cs typeface="+mj-cs"/>
        </a:defRPr>
      </a:lvl1pPr>
    </p:titleStyle>
    <p:body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IBM Plex Serif" panose="02060503050406000203" pitchFamily="18" charset="0"/>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000" kern="1200">
          <a:solidFill>
            <a:schemeClr val="tx2"/>
          </a:solidFill>
          <a:latin typeface="IBM Plex Serif" panose="02060503050406000203" pitchFamily="18" charset="0"/>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IBM Plex Serif" panose="02060503050406000203" pitchFamily="18" charset="0"/>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IBM Plex Serif" panose="02060503050406000203" pitchFamily="18" charset="0"/>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IBM Plex Serif" panose="020605030504060002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AD1F-05FC-9135-9EE3-AA8B0F670958}"/>
              </a:ext>
            </a:extLst>
          </p:cNvPr>
          <p:cNvSpPr>
            <a:spLocks noGrp="1"/>
          </p:cNvSpPr>
          <p:nvPr>
            <p:ph type="ctrTitle"/>
          </p:nvPr>
        </p:nvSpPr>
        <p:spPr/>
        <p:txBody>
          <a:bodyPr/>
          <a:lstStyle/>
          <a:p>
            <a:r>
              <a:rPr lang="en-GB" dirty="0"/>
              <a:t>FA25ProgressReport_Lucas</a:t>
            </a:r>
          </a:p>
        </p:txBody>
      </p:sp>
      <p:sp>
        <p:nvSpPr>
          <p:cNvPr id="3" name="Subtitle 2">
            <a:extLst>
              <a:ext uri="{FF2B5EF4-FFF2-40B4-BE49-F238E27FC236}">
                <a16:creationId xmlns:a16="http://schemas.microsoft.com/office/drawing/2014/main" id="{86AD820D-1A31-F8CF-75F0-EB67DC19268A}"/>
              </a:ext>
            </a:extLst>
          </p:cNvPr>
          <p:cNvSpPr>
            <a:spLocks noGrp="1"/>
          </p:cNvSpPr>
          <p:nvPr>
            <p:ph type="subTitle" idx="1"/>
          </p:nvPr>
        </p:nvSpPr>
        <p:spPr/>
        <p:txBody>
          <a:bodyPr/>
          <a:lstStyle/>
          <a:p>
            <a:r>
              <a:rPr lang="en-GB" dirty="0"/>
              <a:t>2025/11/17</a:t>
            </a:r>
          </a:p>
        </p:txBody>
      </p:sp>
    </p:spTree>
    <p:extLst>
      <p:ext uri="{BB962C8B-B14F-4D97-AF65-F5344CB8AC3E}">
        <p14:creationId xmlns:p14="http://schemas.microsoft.com/office/powerpoint/2010/main" val="3227644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C3D69-3CD9-A631-E9A7-2860EB9EA983}"/>
              </a:ext>
            </a:extLst>
          </p:cNvPr>
          <p:cNvSpPr>
            <a:spLocks noGrp="1"/>
          </p:cNvSpPr>
          <p:nvPr>
            <p:ph type="title"/>
          </p:nvPr>
        </p:nvSpPr>
        <p:spPr/>
        <p:txBody>
          <a:bodyPr>
            <a:normAutofit/>
          </a:bodyPr>
          <a:lstStyle/>
          <a:p>
            <a:r>
              <a:rPr lang="en-GB" sz="3600" dirty="0"/>
              <a:t>Interlocking Topology</a:t>
            </a:r>
          </a:p>
        </p:txBody>
      </p:sp>
      <p:sp>
        <p:nvSpPr>
          <p:cNvPr id="3" name="Content Placeholder 2">
            <a:extLst>
              <a:ext uri="{FF2B5EF4-FFF2-40B4-BE49-F238E27FC236}">
                <a16:creationId xmlns:a16="http://schemas.microsoft.com/office/drawing/2014/main" id="{445DCFCC-B16B-F781-838F-0FF8DCDF21B8}"/>
              </a:ext>
            </a:extLst>
          </p:cNvPr>
          <p:cNvSpPr>
            <a:spLocks noGrp="1"/>
          </p:cNvSpPr>
          <p:nvPr>
            <p:ph idx="1"/>
          </p:nvPr>
        </p:nvSpPr>
        <p:spPr>
          <a:xfrm>
            <a:off x="420625" y="1463160"/>
            <a:ext cx="7701884" cy="4253899"/>
          </a:xfrm>
        </p:spPr>
        <p:txBody>
          <a:bodyPr>
            <a:normAutofit/>
          </a:bodyPr>
          <a:lstStyle/>
          <a:p>
            <a:r>
              <a:rPr lang="en-GB" sz="1800" b="1" dirty="0"/>
              <a:t>Challenge:  Image Stitching</a:t>
            </a:r>
          </a:p>
          <a:p>
            <a:pPr marL="0" indent="0">
              <a:buNone/>
            </a:pPr>
            <a:r>
              <a:rPr lang="en-US" sz="1800" dirty="0"/>
              <a:t>    Printed specimens have recurring patterns near the seam. When attempting to synthesize multiple images, the presence of similar feature vectors within the overlapping regions caused ambiguity for the algorithm. Portions of the input data are disappeared as a result, and noticeable geometric distortions appear. The outputs are unsuitable for reliable boundary detection.</a:t>
            </a:r>
            <a:endParaRPr lang="en-GB" sz="1800" dirty="0"/>
          </a:p>
        </p:txBody>
      </p:sp>
      <p:pic>
        <p:nvPicPr>
          <p:cNvPr id="5" name="Picture 4" descr="A green and brown stairs&#10;&#10;AI-generated content may be incorrect.">
            <a:extLst>
              <a:ext uri="{FF2B5EF4-FFF2-40B4-BE49-F238E27FC236}">
                <a16:creationId xmlns:a16="http://schemas.microsoft.com/office/drawing/2014/main" id="{9AFC3EB2-39EB-3E42-DEB3-5539C91841D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927" b="97626" l="359" r="99283">
                        <a14:foregroundMark x1="9326" y1="21553" x2="1793" y2="11598"/>
                        <a14:foregroundMark x1="1793" y1="11598" x2="7102" y2="2009"/>
                        <a14:foregroundMark x1="7102" y1="2009" x2="17073" y2="4018"/>
                        <a14:foregroundMark x1="17073" y1="4018" x2="14204" y2="17717"/>
                        <a14:foregroundMark x1="14204" y1="17717" x2="10043" y2="21826"/>
                        <a14:foregroundMark x1="6887" y1="17808" x2="359" y2="7123"/>
                        <a14:foregroundMark x1="359" y1="7123" x2="7819" y2="18356"/>
                        <a14:foregroundMark x1="77618" y1="97443" x2="84433" y2="81918"/>
                        <a14:foregroundMark x1="84433" y1="81918" x2="93544" y2="80913"/>
                        <a14:foregroundMark x1="93544" y1="80913" x2="99426" y2="90959"/>
                        <a14:foregroundMark x1="99426" y1="90959" x2="86514" y2="99543"/>
                        <a14:foregroundMark x1="86514" y1="99543" x2="76686" y2="97626"/>
                        <a14:foregroundMark x1="76686" y1="97626" x2="76829" y2="97626"/>
                        <a14:foregroundMark x1="90818" y1="84749" x2="98780" y2="89406"/>
                        <a14:foregroundMark x1="98780" y1="89406" x2="90029" y2="88493"/>
                        <a14:foregroundMark x1="90029" y1="88493" x2="89957" y2="87032"/>
                        <a14:foregroundMark x1="92181" y1="82648" x2="99067" y2="98813"/>
                        <a14:foregroundMark x1="99067" y1="98813" x2="91607" y2="92329"/>
                        <a14:foregroundMark x1="91607" y1="92329" x2="92898" y2="84384"/>
                        <a14:foregroundMark x1="94261" y1="88219" x2="77977" y2="88402"/>
                        <a14:foregroundMark x1="77977" y1="88402" x2="95194" y2="97534"/>
                        <a14:foregroundMark x1="95194" y1="97534" x2="99283" y2="88219"/>
                      </a14:backgroundRemoval>
                    </a14:imgEffect>
                  </a14:imgLayer>
                </a14:imgProps>
              </a:ext>
              <a:ext uri="{28A0092B-C50C-407E-A947-70E740481C1C}">
                <a14:useLocalDpi xmlns:a14="http://schemas.microsoft.com/office/drawing/2010/main" val="0"/>
              </a:ext>
            </a:extLst>
          </a:blip>
          <a:stretch>
            <a:fillRect/>
          </a:stretch>
        </p:blipFill>
        <p:spPr>
          <a:xfrm rot="16200000">
            <a:off x="7302000" y="1968000"/>
            <a:ext cx="5477429" cy="4302572"/>
          </a:xfrm>
          <a:prstGeom prst="rect">
            <a:avLst/>
          </a:prstGeom>
        </p:spPr>
      </p:pic>
      <p:pic>
        <p:nvPicPr>
          <p:cNvPr id="47" name="Picture 46" descr="A close-up of a green candle&#10;&#10;AI-generated content may be incorrect.">
            <a:extLst>
              <a:ext uri="{FF2B5EF4-FFF2-40B4-BE49-F238E27FC236}">
                <a16:creationId xmlns:a16="http://schemas.microsoft.com/office/drawing/2014/main" id="{CA159F59-64BF-14B4-E3B2-72EE68E63C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1516" y="4107454"/>
            <a:ext cx="1422113" cy="213316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49" name="Picture 48" descr="A close-up of a green and white liquid&#10;&#10;AI-generated content may be incorrect.">
            <a:extLst>
              <a:ext uri="{FF2B5EF4-FFF2-40B4-BE49-F238E27FC236}">
                <a16:creationId xmlns:a16="http://schemas.microsoft.com/office/drawing/2014/main" id="{26005C97-9E37-AE10-BBC7-FE8E22822C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9529" y="4302661"/>
            <a:ext cx="1422113" cy="213316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51" name="Picture 50" descr="A close-up of a green and white candle&#10;&#10;AI-generated content may be incorrect.">
            <a:extLst>
              <a:ext uri="{FF2B5EF4-FFF2-40B4-BE49-F238E27FC236}">
                <a16:creationId xmlns:a16="http://schemas.microsoft.com/office/drawing/2014/main" id="{73173FA9-5F59-39F7-3303-4D0BFFDEC2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1423" y="4631020"/>
            <a:ext cx="1422113" cy="213316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53" name="Picture 52" descr="A close-up of a green and white liquid&#10;&#10;AI-generated content may be incorrect.">
            <a:extLst>
              <a:ext uri="{FF2B5EF4-FFF2-40B4-BE49-F238E27FC236}">
                <a16:creationId xmlns:a16="http://schemas.microsoft.com/office/drawing/2014/main" id="{336503E1-BFBC-86D0-DA13-F885F652FF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6635" y="4848928"/>
            <a:ext cx="1422113" cy="213316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54" name="Rectangle 53">
            <a:extLst>
              <a:ext uri="{FF2B5EF4-FFF2-40B4-BE49-F238E27FC236}">
                <a16:creationId xmlns:a16="http://schemas.microsoft.com/office/drawing/2014/main" id="{1077BCF1-3349-05B9-790E-4BEF0CCEE187}"/>
              </a:ext>
            </a:extLst>
          </p:cNvPr>
          <p:cNvSpPr/>
          <p:nvPr/>
        </p:nvSpPr>
        <p:spPr>
          <a:xfrm rot="10800000">
            <a:off x="4965017" y="4848928"/>
            <a:ext cx="1486511" cy="1446550"/>
          </a:xfrm>
          <a:prstGeom prst="rect">
            <a:avLst/>
          </a:prstGeom>
          <a:noFill/>
        </p:spPr>
        <p:txBody>
          <a:bodyPr wrap="square" lIns="91440" tIns="45720" rIns="91440" bIns="45720">
            <a:spAutoFit/>
          </a:bodyPr>
          <a:lstStyle/>
          <a:p>
            <a:pPr algn="ctr"/>
            <a:r>
              <a:rPr lang="en-GB" sz="8800" b="0" cap="none" spc="0" dirty="0">
                <a:ln w="0"/>
                <a:solidFill>
                  <a:schemeClr val="tx2">
                    <a:lumMod val="60000"/>
                    <a:lumOff val="40000"/>
                  </a:schemeClr>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p>
        </p:txBody>
      </p:sp>
      <p:sp>
        <p:nvSpPr>
          <p:cNvPr id="55" name="Arrow: Down 54">
            <a:extLst>
              <a:ext uri="{FF2B5EF4-FFF2-40B4-BE49-F238E27FC236}">
                <a16:creationId xmlns:a16="http://schemas.microsoft.com/office/drawing/2014/main" id="{AA336D66-CB42-0811-4038-DF8E0727EF3E}"/>
              </a:ext>
            </a:extLst>
          </p:cNvPr>
          <p:cNvSpPr/>
          <p:nvPr/>
        </p:nvSpPr>
        <p:spPr>
          <a:xfrm rot="16200000">
            <a:off x="6133720" y="5276459"/>
            <a:ext cx="670268" cy="192833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23448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96761-36FE-13FA-8B2E-A5267FED1B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BAB299-EE42-AF27-6107-05721579E8A4}"/>
              </a:ext>
            </a:extLst>
          </p:cNvPr>
          <p:cNvSpPr>
            <a:spLocks noGrp="1"/>
          </p:cNvSpPr>
          <p:nvPr>
            <p:ph idx="1"/>
          </p:nvPr>
        </p:nvSpPr>
        <p:spPr>
          <a:xfrm>
            <a:off x="230658" y="630444"/>
            <a:ext cx="8402099" cy="1883462"/>
          </a:xfrm>
        </p:spPr>
        <p:txBody>
          <a:bodyPr>
            <a:normAutofit/>
          </a:bodyPr>
          <a:lstStyle/>
          <a:p>
            <a:pPr marL="0" indent="0">
              <a:buNone/>
            </a:pPr>
            <a:r>
              <a:rPr lang="en-GB" sz="1800" b="1" dirty="0"/>
              <a:t>Potential Solutions</a:t>
            </a:r>
          </a:p>
          <a:p>
            <a:pPr marL="342900" indent="-342900">
              <a:buAutoNum type="arabicPeriod"/>
            </a:pPr>
            <a:r>
              <a:rPr lang="en-GB" sz="1800" dirty="0"/>
              <a:t>Masking tape covered by ballpen oil-based ink, random texture helps with locating.</a:t>
            </a:r>
          </a:p>
          <a:p>
            <a:pPr lvl="1">
              <a:buFontTx/>
              <a:buChar char="-"/>
            </a:pPr>
            <a:r>
              <a:rPr lang="en-US" altLang="zh-TW" sz="1600" dirty="0"/>
              <a:t>V</a:t>
            </a:r>
            <a:r>
              <a:rPr lang="en-US" sz="1600" dirty="0"/>
              <a:t>alleys can not be completely covered, bright region </a:t>
            </a:r>
            <a:r>
              <a:rPr lang="en-GB" sz="1600" dirty="0"/>
              <a:t>interferes with detection</a:t>
            </a:r>
          </a:p>
        </p:txBody>
      </p:sp>
      <p:pic>
        <p:nvPicPr>
          <p:cNvPr id="7" name="Picture 6" descr="A close up of a lens&#10;&#10;AI-generated content may be incorrect.">
            <a:extLst>
              <a:ext uri="{FF2B5EF4-FFF2-40B4-BE49-F238E27FC236}">
                <a16:creationId xmlns:a16="http://schemas.microsoft.com/office/drawing/2014/main" id="{6CAD8ABC-9ADD-D2E3-3D73-3E28E88A9C6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099013" y="3545024"/>
            <a:ext cx="2862328" cy="3075002"/>
          </a:xfrm>
          <a:prstGeom prst="rect">
            <a:avLst/>
          </a:prstGeom>
        </p:spPr>
      </p:pic>
      <p:pic>
        <p:nvPicPr>
          <p:cNvPr id="9" name="Picture 8" descr="A close up of a circular object&#10;&#10;AI-generated content may be incorrect.">
            <a:extLst>
              <a:ext uri="{FF2B5EF4-FFF2-40B4-BE49-F238E27FC236}">
                <a16:creationId xmlns:a16="http://schemas.microsoft.com/office/drawing/2014/main" id="{A5AE51CF-826B-C5AA-DBB2-EDB9291562E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77998" y="3545024"/>
            <a:ext cx="3021015" cy="3075002"/>
          </a:xfrm>
          <a:prstGeom prst="rect">
            <a:avLst/>
          </a:prstGeom>
        </p:spPr>
      </p:pic>
      <p:pic>
        <p:nvPicPr>
          <p:cNvPr id="11" name="Picture 10" descr="A black background with green lines&#10;&#10;AI-generated content may be incorrect.">
            <a:extLst>
              <a:ext uri="{FF2B5EF4-FFF2-40B4-BE49-F238E27FC236}">
                <a16:creationId xmlns:a16="http://schemas.microsoft.com/office/drawing/2014/main" id="{246FC615-5CF8-6217-FE79-436363C3D35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099013" y="783422"/>
            <a:ext cx="2862329" cy="2761602"/>
          </a:xfrm>
          <a:prstGeom prst="rect">
            <a:avLst/>
          </a:prstGeom>
        </p:spPr>
      </p:pic>
      <p:sp>
        <p:nvSpPr>
          <p:cNvPr id="12" name="Arrow: Down 11">
            <a:extLst>
              <a:ext uri="{FF2B5EF4-FFF2-40B4-BE49-F238E27FC236}">
                <a16:creationId xmlns:a16="http://schemas.microsoft.com/office/drawing/2014/main" id="{59AD3897-6F78-AD54-BE6D-553BC93B0C36}"/>
              </a:ext>
            </a:extLst>
          </p:cNvPr>
          <p:cNvSpPr/>
          <p:nvPr/>
        </p:nvSpPr>
        <p:spPr>
          <a:xfrm>
            <a:off x="10398372" y="3220362"/>
            <a:ext cx="263610" cy="708454"/>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DB4EE468-3EE0-9F8C-0910-74DC932FDF66}"/>
              </a:ext>
            </a:extLst>
          </p:cNvPr>
          <p:cNvSpPr txBox="1">
            <a:spLocks/>
          </p:cNvSpPr>
          <p:nvPr/>
        </p:nvSpPr>
        <p:spPr>
          <a:xfrm>
            <a:off x="230658" y="2513906"/>
            <a:ext cx="5657374" cy="3307050"/>
          </a:xfrm>
          <a:prstGeom prst="rect">
            <a:avLst/>
          </a:prstGeom>
        </p:spPr>
        <p:txBody>
          <a:bodyPr vert="horz" lIns="91440" tIns="45720" rIns="91440" bIns="4572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IBM Plex Serif" panose="02060503050406000203" pitchFamily="18" charset="0"/>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IBM Plex Serif" panose="02060503050406000203" pitchFamily="18" charset="0"/>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IBM Plex Serif" panose="02060503050406000203" pitchFamily="18" charset="0"/>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IBM Plex Serif" panose="02060503050406000203" pitchFamily="18" charset="0"/>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IBM Plex Serif" panose="020605030504060002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2"/>
            </a:pPr>
            <a:r>
              <a:rPr lang="en-GB" sz="1800" dirty="0"/>
              <a:t>Random dark teal colour dots and line ‘noise’ pattern on black background, printed on paper.</a:t>
            </a:r>
          </a:p>
          <a:p>
            <a:pPr lvl="1">
              <a:buFontTx/>
              <a:buChar char="-"/>
            </a:pPr>
            <a:r>
              <a:rPr lang="en-US" altLang="zh-TW" sz="1600" dirty="0"/>
              <a:t>D</a:t>
            </a:r>
            <a:r>
              <a:rPr lang="en-US" sz="1600" dirty="0"/>
              <a:t>ifficult to completely adhere to the sample surface, floating paper </a:t>
            </a:r>
            <a:r>
              <a:rPr lang="en-GB" sz="1600" dirty="0"/>
              <a:t>don’t stay in the focus plane. Tiny highlight spots can be observed when illuminated from the side.</a:t>
            </a:r>
          </a:p>
        </p:txBody>
      </p:sp>
    </p:spTree>
    <p:extLst>
      <p:ext uri="{BB962C8B-B14F-4D97-AF65-F5344CB8AC3E}">
        <p14:creationId xmlns:p14="http://schemas.microsoft.com/office/powerpoint/2010/main" val="234106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4CF1-8550-0DC9-34E7-9E82A33B8EF0}"/>
            </a:ext>
          </a:extLst>
        </p:cNvPr>
        <p:cNvGrpSpPr/>
        <p:nvPr/>
      </p:nvGrpSpPr>
      <p:grpSpPr>
        <a:xfrm>
          <a:off x="0" y="0"/>
          <a:ext cx="0" cy="0"/>
          <a:chOff x="0" y="0"/>
          <a:chExt cx="0" cy="0"/>
        </a:xfrm>
      </p:grpSpPr>
      <p:pic>
        <p:nvPicPr>
          <p:cNvPr id="5" name="Picture 4" descr="A drawing of a spiral&#10;&#10;AI-generated content may be incorrect.">
            <a:extLst>
              <a:ext uri="{FF2B5EF4-FFF2-40B4-BE49-F238E27FC236}">
                <a16:creationId xmlns:a16="http://schemas.microsoft.com/office/drawing/2014/main" id="{CC447B18-BB8C-5409-CB25-1D3485D70CF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88106" y="2426202"/>
            <a:ext cx="4383268" cy="4066673"/>
          </a:xfrm>
          <a:prstGeom prst="rect">
            <a:avLst/>
          </a:prstGeom>
        </p:spPr>
      </p:pic>
      <p:sp>
        <p:nvSpPr>
          <p:cNvPr id="2" name="Title 1">
            <a:extLst>
              <a:ext uri="{FF2B5EF4-FFF2-40B4-BE49-F238E27FC236}">
                <a16:creationId xmlns:a16="http://schemas.microsoft.com/office/drawing/2014/main" id="{C926AD8C-5091-E9EF-B426-E7ACEC8E5730}"/>
              </a:ext>
            </a:extLst>
          </p:cNvPr>
          <p:cNvSpPr>
            <a:spLocks noGrp="1"/>
          </p:cNvSpPr>
          <p:nvPr>
            <p:ph type="title"/>
          </p:nvPr>
        </p:nvSpPr>
        <p:spPr/>
        <p:txBody>
          <a:bodyPr>
            <a:normAutofit/>
          </a:bodyPr>
          <a:lstStyle/>
          <a:p>
            <a:r>
              <a:rPr lang="en-GB" sz="3600" dirty="0"/>
              <a:t>FDM Roughness samples (for aerosol)</a:t>
            </a:r>
          </a:p>
        </p:txBody>
      </p:sp>
      <p:sp>
        <p:nvSpPr>
          <p:cNvPr id="3" name="Content Placeholder 2">
            <a:extLst>
              <a:ext uri="{FF2B5EF4-FFF2-40B4-BE49-F238E27FC236}">
                <a16:creationId xmlns:a16="http://schemas.microsoft.com/office/drawing/2014/main" id="{1BFC483B-FB19-EAC3-33DA-133115C7B1EC}"/>
              </a:ext>
            </a:extLst>
          </p:cNvPr>
          <p:cNvSpPr>
            <a:spLocks noGrp="1"/>
          </p:cNvSpPr>
          <p:nvPr>
            <p:ph idx="1"/>
          </p:nvPr>
        </p:nvSpPr>
        <p:spPr>
          <a:xfrm>
            <a:off x="420624" y="1421972"/>
            <a:ext cx="7696680" cy="3122408"/>
          </a:xfrm>
        </p:spPr>
        <p:txBody>
          <a:bodyPr>
            <a:normAutofit/>
          </a:bodyPr>
          <a:lstStyle/>
          <a:p>
            <a:r>
              <a:rPr lang="en-US" sz="1800" dirty="0"/>
              <a:t>These substrates were printed in vertical orientation. The layer height was identified as the principal parameter for controlling the surface roughness of the sidewalls, which subsequently served as the printing surface for the AJP process. Layer heights varied from 0.1 mm to 0.5 mm, with increments of 0.1 mm. All other printing parameters were maintained constant throughout the process.</a:t>
            </a:r>
          </a:p>
          <a:p>
            <a:r>
              <a:rPr lang="en-US" sz="1800" dirty="0"/>
              <a:t>5 samples for each layer height (two groups from which were consumed in 100 </a:t>
            </a:r>
            <a:r>
              <a:rPr lang="en-GB" sz="1800" dirty="0"/>
              <a:t>°C annealing testing</a:t>
            </a:r>
            <a:r>
              <a:rPr lang="en-US" sz="1800" dirty="0"/>
              <a:t>)</a:t>
            </a:r>
          </a:p>
          <a:p>
            <a:endParaRPr lang="en-GB" sz="1800" dirty="0"/>
          </a:p>
        </p:txBody>
      </p:sp>
      <p:pic>
        <p:nvPicPr>
          <p:cNvPr id="7" name="Picture 6" descr="A group of white paper strips on a blue surface&#10;&#10;AI-generated content may be incorrect.">
            <a:extLst>
              <a:ext uri="{FF2B5EF4-FFF2-40B4-BE49-F238E27FC236}">
                <a16:creationId xmlns:a16="http://schemas.microsoft.com/office/drawing/2014/main" id="{A08781E2-3D51-F2BB-D6B2-C92B27CC243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420624" y="4544380"/>
            <a:ext cx="2866273" cy="2095162"/>
          </a:xfrm>
          <a:prstGeom prst="rect">
            <a:avLst/>
          </a:prstGeom>
        </p:spPr>
      </p:pic>
      <p:pic>
        <p:nvPicPr>
          <p:cNvPr id="9" name="Picture 8" descr="A white paper with labels on it&#10;&#10;AI-generated content may be incorrect.">
            <a:extLst>
              <a:ext uri="{FF2B5EF4-FFF2-40B4-BE49-F238E27FC236}">
                <a16:creationId xmlns:a16="http://schemas.microsoft.com/office/drawing/2014/main" id="{DD7DC1C0-840E-F645-79ED-83F5F529BD73}"/>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5400000">
            <a:off x="3984246" y="4118879"/>
            <a:ext cx="2095163" cy="2946163"/>
          </a:xfrm>
          <a:prstGeom prst="rect">
            <a:avLst/>
          </a:prstGeom>
        </p:spPr>
      </p:pic>
    </p:spTree>
    <p:extLst>
      <p:ext uri="{BB962C8B-B14F-4D97-AF65-F5344CB8AC3E}">
        <p14:creationId xmlns:p14="http://schemas.microsoft.com/office/powerpoint/2010/main" val="170327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5570-774A-EA91-FABD-0FE7E4680C1F}"/>
            </a:ext>
          </a:extLst>
        </p:cNvPr>
        <p:cNvGrpSpPr/>
        <p:nvPr/>
      </p:nvGrpSpPr>
      <p:grpSpPr>
        <a:xfrm>
          <a:off x="0" y="0"/>
          <a:ext cx="0" cy="0"/>
          <a:chOff x="0" y="0"/>
          <a:chExt cx="0" cy="0"/>
        </a:xfrm>
      </p:grpSpPr>
      <p:pic>
        <p:nvPicPr>
          <p:cNvPr id="8" name="Picture 7" descr="A drawing of a piece of metal&#10;&#10;AI-generated content may be incorrect.">
            <a:extLst>
              <a:ext uri="{FF2B5EF4-FFF2-40B4-BE49-F238E27FC236}">
                <a16:creationId xmlns:a16="http://schemas.microsoft.com/office/drawing/2014/main" id="{D9A46F3F-5328-391C-4E6C-0E360D9BF82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846970" y="2207741"/>
            <a:ext cx="4345030" cy="4650259"/>
          </a:xfrm>
          <a:prstGeom prst="rect">
            <a:avLst/>
          </a:prstGeom>
        </p:spPr>
      </p:pic>
      <p:sp>
        <p:nvSpPr>
          <p:cNvPr id="3" name="Content Placeholder 2">
            <a:extLst>
              <a:ext uri="{FF2B5EF4-FFF2-40B4-BE49-F238E27FC236}">
                <a16:creationId xmlns:a16="http://schemas.microsoft.com/office/drawing/2014/main" id="{B655B311-8E15-E38D-581B-8A10B5593721}"/>
              </a:ext>
            </a:extLst>
          </p:cNvPr>
          <p:cNvSpPr>
            <a:spLocks noGrp="1"/>
          </p:cNvSpPr>
          <p:nvPr>
            <p:ph idx="1"/>
          </p:nvPr>
        </p:nvSpPr>
        <p:spPr>
          <a:xfrm>
            <a:off x="420626" y="870036"/>
            <a:ext cx="7696680" cy="5160061"/>
          </a:xfrm>
        </p:spPr>
        <p:txBody>
          <a:bodyPr>
            <a:normAutofit/>
          </a:bodyPr>
          <a:lstStyle/>
          <a:p>
            <a:r>
              <a:rPr lang="en-US" sz="1800" dirty="0"/>
              <a:t>For comparison, a group of substrates with smooth top surface was fabricated in alternative printing orientation. To further enhance surface uniformity and minimize roughness, additional ironed skin layer was applied to this top surface. This post-processing step involved repeatedly passing a heated nozzle over the printed top layer, at the exact height of model's top surface, with a reduced line spacing of 0.1 mm and significantly low material extrusion rate ~14% to precisely fill inter-line gaps and achieve a planar smooth surface.  Concentric filling pattern was selected for its even linear pattern in the </a:t>
            </a:r>
            <a:r>
              <a:rPr lang="en-US" sz="1800" dirty="0" err="1"/>
              <a:t>centre</a:t>
            </a:r>
            <a:r>
              <a:rPr lang="en-US" sz="1800" dirty="0"/>
              <a:t> region.</a:t>
            </a:r>
          </a:p>
          <a:p>
            <a:r>
              <a:rPr lang="en-US" sz="1800" dirty="0"/>
              <a:t>After we found the </a:t>
            </a:r>
            <a:r>
              <a:rPr lang="en-GB" sz="1800" dirty="0"/>
              <a:t>adequate combination of flow rate, scan line distances and overflow offset, 3 samples were prepared.</a:t>
            </a:r>
          </a:p>
        </p:txBody>
      </p:sp>
    </p:spTree>
    <p:extLst>
      <p:ext uri="{BB962C8B-B14F-4D97-AF65-F5344CB8AC3E}">
        <p14:creationId xmlns:p14="http://schemas.microsoft.com/office/powerpoint/2010/main" val="119026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65C463-405E-DC6C-9E43-24E8E4D04A13}"/>
              </a:ext>
            </a:extLst>
          </p:cNvPr>
          <p:cNvSpPr>
            <a:spLocks noGrp="1"/>
          </p:cNvSpPr>
          <p:nvPr>
            <p:ph type="title"/>
          </p:nvPr>
        </p:nvSpPr>
        <p:spPr/>
        <p:txBody>
          <a:bodyPr/>
          <a:lstStyle/>
          <a:p>
            <a:r>
              <a:rPr lang="en-GB" dirty="0"/>
              <a:t>SMLP</a:t>
            </a:r>
          </a:p>
        </p:txBody>
      </p:sp>
      <p:sp>
        <p:nvSpPr>
          <p:cNvPr id="7" name="Content Placeholder 6">
            <a:extLst>
              <a:ext uri="{FF2B5EF4-FFF2-40B4-BE49-F238E27FC236}">
                <a16:creationId xmlns:a16="http://schemas.microsoft.com/office/drawing/2014/main" id="{5022B52C-A086-AE47-9073-90D9FD3DEFC9}"/>
              </a:ext>
            </a:extLst>
          </p:cNvPr>
          <p:cNvSpPr>
            <a:spLocks noGrp="1"/>
          </p:cNvSpPr>
          <p:nvPr>
            <p:ph idx="1"/>
          </p:nvPr>
        </p:nvSpPr>
        <p:spPr/>
        <p:txBody>
          <a:bodyPr/>
          <a:lstStyle/>
          <a:p>
            <a:r>
              <a:rPr lang="en-GB" dirty="0"/>
              <a:t>Drafting the following sections:</a:t>
            </a:r>
          </a:p>
          <a:p>
            <a:endParaRPr lang="en-GB" dirty="0"/>
          </a:p>
          <a:p>
            <a:pPr marL="0" indent="0">
              <a:lnSpc>
                <a:spcPts val="2200"/>
              </a:lnSpc>
              <a:spcBef>
                <a:spcPts val="0"/>
              </a:spcBef>
              <a:buNone/>
            </a:pPr>
            <a:r>
              <a:rPr lang="en-GB" sz="1600" dirty="0">
                <a:latin typeface="IBM Plex Mono Text" panose="020B0509050203000203" pitchFamily="49" charset="0"/>
              </a:rPr>
              <a:t>┌─ Methodology</a:t>
            </a:r>
          </a:p>
          <a:p>
            <a:pPr marL="0" indent="0">
              <a:lnSpc>
                <a:spcPts val="2200"/>
              </a:lnSpc>
              <a:spcBef>
                <a:spcPts val="0"/>
              </a:spcBef>
              <a:buNone/>
            </a:pPr>
            <a:r>
              <a:rPr lang="en-GB" sz="1600" dirty="0">
                <a:latin typeface="IBM Plex Mono Text" panose="020B0509050203000203" pitchFamily="49" charset="0"/>
              </a:rPr>
              <a:t>│ ├─ Materials and Equipment</a:t>
            </a:r>
          </a:p>
          <a:p>
            <a:pPr marL="0" indent="0">
              <a:lnSpc>
                <a:spcPts val="2200"/>
              </a:lnSpc>
              <a:spcBef>
                <a:spcPts val="0"/>
              </a:spcBef>
              <a:buNone/>
            </a:pPr>
            <a:r>
              <a:rPr lang="en-GB" sz="1600" dirty="0">
                <a:latin typeface="IBM Plex Mono Text" panose="020B0509050203000203" pitchFamily="49" charset="0"/>
              </a:rPr>
              <a:t>│ ├─ Specimen Design</a:t>
            </a:r>
          </a:p>
          <a:p>
            <a:pPr marL="0" indent="0">
              <a:lnSpc>
                <a:spcPts val="2200"/>
              </a:lnSpc>
              <a:spcBef>
                <a:spcPts val="0"/>
              </a:spcBef>
              <a:buNone/>
            </a:pPr>
            <a:r>
              <a:rPr lang="en-GB" sz="1600" dirty="0">
                <a:latin typeface="IBM Plex Mono Text" panose="020B0509050203000203" pitchFamily="49" charset="0"/>
              </a:rPr>
              <a:t>│ ├─ Experimental Design and Parameter Matrix</a:t>
            </a:r>
          </a:p>
          <a:p>
            <a:pPr marL="0" indent="0">
              <a:lnSpc>
                <a:spcPts val="2200"/>
              </a:lnSpc>
              <a:spcBef>
                <a:spcPts val="0"/>
              </a:spcBef>
              <a:buNone/>
            </a:pPr>
            <a:r>
              <a:rPr lang="en-GB" sz="1600" dirty="0">
                <a:latin typeface="IBM Plex Mono Text" panose="020B0509050203000203" pitchFamily="49" charset="0"/>
              </a:rPr>
              <a:t>│ │  └─ Slicing Configuration</a:t>
            </a:r>
          </a:p>
          <a:p>
            <a:pPr marL="0" indent="0">
              <a:lnSpc>
                <a:spcPts val="2200"/>
              </a:lnSpc>
              <a:spcBef>
                <a:spcPts val="0"/>
              </a:spcBef>
              <a:buNone/>
            </a:pPr>
            <a:r>
              <a:rPr lang="en-GB" sz="1600" dirty="0">
                <a:latin typeface="IBM Plex Mono Text" panose="020B0509050203000203" pitchFamily="49" charset="0"/>
              </a:rPr>
              <a:t>│ ├─ Printing Procedure and Techniques</a:t>
            </a:r>
          </a:p>
          <a:p>
            <a:pPr marL="0" indent="0">
              <a:lnSpc>
                <a:spcPts val="2200"/>
              </a:lnSpc>
              <a:spcBef>
                <a:spcPts val="0"/>
              </a:spcBef>
              <a:buNone/>
            </a:pPr>
            <a:r>
              <a:rPr lang="en-GB" sz="1600" dirty="0">
                <a:latin typeface="IBM Plex Mono Text" panose="020B0509050203000203" pitchFamily="49" charset="0"/>
              </a:rPr>
              <a:t>│ └─ Characterization (Testing)</a:t>
            </a:r>
          </a:p>
          <a:p>
            <a:endParaRPr lang="en-GB" dirty="0"/>
          </a:p>
        </p:txBody>
      </p:sp>
    </p:spTree>
    <p:extLst>
      <p:ext uri="{BB962C8B-B14F-4D97-AF65-F5344CB8AC3E}">
        <p14:creationId xmlns:p14="http://schemas.microsoft.com/office/powerpoint/2010/main" val="617832203"/>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docProps/app.xml><?xml version="1.0" encoding="utf-8"?>
<Properties xmlns="http://schemas.openxmlformats.org/officeDocument/2006/extended-properties" xmlns:vt="http://schemas.openxmlformats.org/officeDocument/2006/docPropsVTypes">
  <Template>Offset</Template>
  <TotalTime>263</TotalTime>
  <Words>408</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IBM Plex Mono Text</vt:lpstr>
      <vt:lpstr>IBM Plex Serif</vt:lpstr>
      <vt:lpstr>Wingdings 2</vt:lpstr>
      <vt:lpstr>OffsetVTI</vt:lpstr>
      <vt:lpstr>FA25ProgressReport_Lucas</vt:lpstr>
      <vt:lpstr>Interlocking Topology</vt:lpstr>
      <vt:lpstr>PowerPoint Presentation</vt:lpstr>
      <vt:lpstr>FDM Roughness samples (for aerosol)</vt:lpstr>
      <vt:lpstr>PowerPoint Presentation</vt:lpstr>
      <vt:lpstr>SMLP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Lucas Chen</dc:creator>
  <cp:lastModifiedBy>Lucas Chen</cp:lastModifiedBy>
  <cp:revision>11</cp:revision>
  <dcterms:created xsi:type="dcterms:W3CDTF">2025-11-17T20:55:04Z</dcterms:created>
  <dcterms:modified xsi:type="dcterms:W3CDTF">2025-11-18T01:18:23Z</dcterms:modified>
</cp:coreProperties>
</file>