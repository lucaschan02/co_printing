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16" d="100"/>
          <a:sy n="116" d="100"/>
        </p:scale>
        <p:origin x="10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ts val="32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965B-87A4-4F43-BE02-800BCCDF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 anchor="ctr" anchorCtr="0"/>
          <a:lstStyle/>
          <a:p>
            <a:fld id="{403CB87E-4591-47A1-9046-CF63F17215EF}" type="datetime2">
              <a:rPr lang="en-US" smtClean="0"/>
              <a:t>Wednesday, November 12,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35B-CBF1-40D9-BAA7-CF9E1E22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 anchor="ctr" anchorCtr="0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653A-450D-4BDE-8718-99F2D931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>
            <a:lvl1pPr algn="ctr">
              <a:defRPr/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A7D4-E57E-4789-896B-B2A051B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3DE70B-B772-416E-A790-995760B1742E}" type="datetime2">
              <a:rPr lang="en-US" smtClean="0"/>
              <a:t>Wednesday, November 12,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63EE-3B35-4F8A-BDA3-E778BFE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9EF2-7937-4C30-A883-7F7BD02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8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E2B4-314C-4D4F-8938-E437A2E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0CDE-A6F1-4138-AF12-ED09E8E5FB6B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2F23-6986-4A36-97F0-13F305A2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BA1B9-2423-42BD-A553-DC5703F6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0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206382"/>
          </a:xfrm>
        </p:spPr>
        <p:txBody>
          <a:bodyPr/>
          <a:lstStyle>
            <a:lvl1pPr marL="457200" indent="-457200">
              <a:buFont typeface="Wingdings 2" panose="05020102010507070707" pitchFamily="18" charset="2"/>
              <a:buChar char="¬"/>
              <a:defRPr/>
            </a:lvl1pPr>
            <a:lvl2pPr marL="800100" indent="-342900">
              <a:buFont typeface="Wingdings 2" panose="05020102010507070707" pitchFamily="18" charset="2"/>
              <a:buChar char="¬"/>
              <a:defRPr/>
            </a:lvl2pPr>
            <a:lvl3pPr marL="1257300" indent="-342900">
              <a:buFont typeface="Wingdings 2" panose="05020102010507070707" pitchFamily="18" charset="2"/>
              <a:buChar char="¬"/>
              <a:defRPr/>
            </a:lvl3pPr>
            <a:lvl4pPr marL="1657350" indent="-285750">
              <a:buFont typeface="Wingdings 2" panose="05020102010507070707" pitchFamily="18" charset="2"/>
              <a:buChar char="¬"/>
              <a:defRPr/>
            </a:lvl4pPr>
            <a:lvl5pPr marL="2114550" indent="-28575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9145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1B49-6AAA-4DA7-970F-B75899F1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F8B1-DB7B-4D28-A97D-40FB2DD1EF78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649A-B9A2-4737-B47E-758DC14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C1407-C705-451C-878E-8175DCC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9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2505075"/>
            <a:ext cx="554969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0321" y="1681163"/>
            <a:ext cx="499333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321" y="2505075"/>
            <a:ext cx="4993335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298F3-0AEC-4811-99A4-B78AE3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14039161-23B8-4738-9069-73EBE8884FDD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90B4-8A9A-4717-8B0B-2C92129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8F00A-44BE-4E0A-B1CE-1FC4896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7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3A871-5A76-4349-99F0-C46C7738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4D44-7693-499F-AC6C-11696134FE3F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2E803-8BD9-40A2-8389-C19DA114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14ED-B772-4B84-813E-E34C9A9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3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F2AE-472C-4EF3-ABB2-24BAA9AE3CF7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0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</p:spPr>
        <p:txBody>
          <a:bodyPr anchor="b">
            <a:no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199340"/>
            <a:ext cx="5780468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813E-250B-4422-AE46-5E1AB964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EAEA162C-A7C1-4263-9453-1BAFF8C39559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5B81-E9CC-45F3-8EF1-35D2C8F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A7E97-5A73-4602-9582-6CDACB9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1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305-9768-4792-866C-91238D45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64DF6793-3458-4587-8168-65F0C37A92D2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F050-0FF1-499F-936E-FAAE50DC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2C2E-1542-46B4-85B1-7A4B3F77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8191-8A0C-4077-9A2D-0255BF81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17F0E-8070-4DFE-A821-9A699EDBAD7E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B40-57AC-45F3-9AAC-DC2BEBB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65F4-29FA-451A-878F-768E426A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1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41D6-1E1A-4A54-A9B4-57F86865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34AE-C7BF-46E5-A968-01C6641F6476}" type="datetime2">
              <a:rPr lang="en-US" smtClean="0"/>
              <a:t>Wednesday, 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41D6-4702-4421-AEB2-D6CA3AAD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9F43-CD60-4C38-94C9-0E6D3B7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1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86836B-C327-49CB-ADF2-2E730C4A91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10F61-136C-42B3-981B-FDE3DD0A8135}"/>
              </a:ext>
            </a:extLst>
          </p:cNvPr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8352ED3-3C46-4C9A-9738-67B2D875E7E2}" type="datetime2">
              <a:rPr lang="en-US" smtClean="0"/>
              <a:pPr/>
              <a:t>Wednesday, November 12,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0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8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40D6-BD34-C69F-CB9D-3778ED6F5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6E035-E862-F96A-DCE2-CBA66B96A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8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1665-4115-DD4B-4723-C9DC7E5E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Segment Classification </a:t>
            </a:r>
          </a:p>
        </p:txBody>
      </p:sp>
      <p:pic>
        <p:nvPicPr>
          <p:cNvPr id="9" name="Content Placeholder 8" descr="A close up of a green object&#10;&#10;AI-generated content may be incorrect.">
            <a:extLst>
              <a:ext uri="{FF2B5EF4-FFF2-40B4-BE49-F238E27FC236}">
                <a16:creationId xmlns:a16="http://schemas.microsoft.com/office/drawing/2014/main" id="{929452CB-1585-FC7C-797D-D644B1BB1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37" y="2286000"/>
            <a:ext cx="5717163" cy="4206875"/>
          </a:xfrm>
        </p:spPr>
      </p:pic>
      <p:pic>
        <p:nvPicPr>
          <p:cNvPr id="11" name="Picture 10" descr="A diagram of a semicircle&#10;&#10;AI-generated content may be incorrect.">
            <a:extLst>
              <a:ext uri="{FF2B5EF4-FFF2-40B4-BE49-F238E27FC236}">
                <a16:creationId xmlns:a16="http://schemas.microsoft.com/office/drawing/2014/main" id="{FCC44925-34C7-477F-A49A-4871DC17D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770585" cy="306387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9FEBB7-896C-A334-CB9B-B9235E2017F1}"/>
              </a:ext>
            </a:extLst>
          </p:cNvPr>
          <p:cNvCxnSpPr>
            <a:cxnSpLocks/>
          </p:cNvCxnSpPr>
          <p:nvPr/>
        </p:nvCxnSpPr>
        <p:spPr>
          <a:xfrm flipH="1">
            <a:off x="4209536" y="6260756"/>
            <a:ext cx="1367481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8BF201-7440-1A9E-D16E-07EEE14B0031}"/>
              </a:ext>
            </a:extLst>
          </p:cNvPr>
          <p:cNvCxnSpPr>
            <a:cxnSpLocks/>
          </p:cNvCxnSpPr>
          <p:nvPr/>
        </p:nvCxnSpPr>
        <p:spPr>
          <a:xfrm flipH="1">
            <a:off x="1429265" y="6273112"/>
            <a:ext cx="1367481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FB92B6-DAA2-88FA-3E23-DF2009A3484C}"/>
              </a:ext>
            </a:extLst>
          </p:cNvPr>
          <p:cNvCxnSpPr>
            <a:cxnSpLocks/>
          </p:cNvCxnSpPr>
          <p:nvPr/>
        </p:nvCxnSpPr>
        <p:spPr>
          <a:xfrm>
            <a:off x="914400" y="5519350"/>
            <a:ext cx="130981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45B796-1C1A-4C76-EF07-044D14EC81C3}"/>
              </a:ext>
            </a:extLst>
          </p:cNvPr>
          <p:cNvCxnSpPr>
            <a:cxnSpLocks/>
          </p:cNvCxnSpPr>
          <p:nvPr/>
        </p:nvCxnSpPr>
        <p:spPr>
          <a:xfrm>
            <a:off x="4460789" y="5589372"/>
            <a:ext cx="1309816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20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3CB5-54C2-F0EC-0A4D-F31C80BC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lose up of a toothbrush&#10;&#10;AI-generated content may be incorrect.">
            <a:extLst>
              <a:ext uri="{FF2B5EF4-FFF2-40B4-BE49-F238E27FC236}">
                <a16:creationId xmlns:a16="http://schemas.microsoft.com/office/drawing/2014/main" id="{EFFF811C-2179-3CCF-6DE7-A631F8D6D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"/>
          <a:stretch>
            <a:fillRect/>
          </a:stretch>
        </p:blipFill>
        <p:spPr>
          <a:xfrm rot="10800000">
            <a:off x="0" y="-397511"/>
            <a:ext cx="6096000" cy="7255511"/>
          </a:xfrm>
        </p:spPr>
      </p:pic>
      <p:pic>
        <p:nvPicPr>
          <p:cNvPr id="7" name="Picture 6" descr="A green and white paint in a circle&#10;&#10;AI-generated content may be incorrect.">
            <a:extLst>
              <a:ext uri="{FF2B5EF4-FFF2-40B4-BE49-F238E27FC236}">
                <a16:creationId xmlns:a16="http://schemas.microsoft.com/office/drawing/2014/main" id="{08B6F3E2-BA57-AA7D-191B-CE01250E4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096409" y="-233680"/>
            <a:ext cx="6095591" cy="709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9051786-3DB9-4904-BD7C-977B5666C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B557DC-3483-4FC3-B0F2-6358E74AA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C22CD1-1666-4CBE-96DC-99CDD142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2681D-58C9-161B-5B4D-9B79E65B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9" y="540167"/>
            <a:ext cx="4274607" cy="2135867"/>
          </a:xfrm>
        </p:spPr>
        <p:txBody>
          <a:bodyPr anchor="b">
            <a:normAutofit/>
          </a:bodyPr>
          <a:lstStyle/>
          <a:p>
            <a:r>
              <a:rPr lang="en-GB" sz="4800" dirty="0">
                <a:solidFill>
                  <a:schemeClr val="tx1"/>
                </a:solidFill>
              </a:rPr>
              <a:t>Image Processing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D56D595-4183-5AB4-194A-E5AE3ADA0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899" y="2880452"/>
            <a:ext cx="4274607" cy="309544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1"/>
                </a:solidFill>
              </a:rPr>
              <a:t>To ensure capturing consistency</a:t>
            </a:r>
          </a:p>
          <a:p>
            <a:pPr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Illumination from below, from top</a:t>
            </a:r>
          </a:p>
          <a:p>
            <a:pPr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Camera exposure settings</a:t>
            </a:r>
          </a:p>
          <a:p>
            <a:pPr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Focus depth</a:t>
            </a:r>
          </a:p>
          <a:p>
            <a:pPr>
              <a:buFontTx/>
              <a:buChar char="-"/>
            </a:pPr>
            <a:r>
              <a:rPr lang="en-GB" sz="1800" dirty="0">
                <a:solidFill>
                  <a:schemeClr val="tx1"/>
                </a:solidFill>
              </a:rPr>
              <a:t>Panning movement(for multi-image stitching)</a:t>
            </a:r>
          </a:p>
          <a:p>
            <a:pPr>
              <a:buFontTx/>
              <a:buChar char="-"/>
            </a:pPr>
            <a:endParaRPr lang="en-GB" sz="1800" dirty="0">
              <a:solidFill>
                <a:schemeClr val="tx1"/>
              </a:solidFill>
            </a:endParaRPr>
          </a:p>
        </p:txBody>
      </p:sp>
      <p:pic>
        <p:nvPicPr>
          <p:cNvPr id="9" name="Content Placeholder 8" descr="A green line on a black background&#10;&#10;AI-generated content may be incorrect.">
            <a:extLst>
              <a:ext uri="{FF2B5EF4-FFF2-40B4-BE49-F238E27FC236}">
                <a16:creationId xmlns:a16="http://schemas.microsoft.com/office/drawing/2014/main" id="{A72DDC7A-8690-86FA-BA9A-62CC604B8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84" r="34145" b="-2"/>
          <a:stretch>
            <a:fillRect/>
          </a:stretch>
        </p:blipFill>
        <p:spPr>
          <a:xfrm>
            <a:off x="5211495" y="685800"/>
            <a:ext cx="3211333" cy="5486400"/>
          </a:xfrm>
          <a:prstGeom prst="rect">
            <a:avLst/>
          </a:prstGeom>
        </p:spPr>
      </p:pic>
      <p:pic>
        <p:nvPicPr>
          <p:cNvPr id="12" name="Picture 11" descr="A close-up of a green and white food&#10;&#10;AI-generated content may be incorrect.">
            <a:extLst>
              <a:ext uri="{FF2B5EF4-FFF2-40B4-BE49-F238E27FC236}">
                <a16:creationId xmlns:a16="http://schemas.microsoft.com/office/drawing/2014/main" id="{9D8FA3E0-F805-099A-595C-C4795C97F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3" t="-103" r="37825" b="101"/>
          <a:stretch>
            <a:fillRect/>
          </a:stretch>
        </p:blipFill>
        <p:spPr>
          <a:xfrm>
            <a:off x="8535080" y="685800"/>
            <a:ext cx="3211333" cy="54864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9827AAC-CA62-4023-88E4-2F271AB1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00D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B57D9A5-B0E6-43E8-854F-D4931B715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47856" y="680191"/>
            <a:ext cx="440192" cy="5492010"/>
          </a:xfrm>
          <a:prstGeom prst="rect">
            <a:avLst/>
          </a:prstGeom>
          <a:solidFill>
            <a:srgbClr val="00D00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0BE8-14D3-4223-AC79-F05957192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00D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7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gram&#10;&#10;AI-generated content may be incorrect.">
            <a:extLst>
              <a:ext uri="{FF2B5EF4-FFF2-40B4-BE49-F238E27FC236}">
                <a16:creationId xmlns:a16="http://schemas.microsoft.com/office/drawing/2014/main" id="{F9AA3866-B396-2685-B29E-F06C6E9C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60" y="49576"/>
            <a:ext cx="11498280" cy="2429214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9324022A-9A46-2B88-95FA-848B136FE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73" y="2312431"/>
            <a:ext cx="10528967" cy="427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0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text with a rectangular line&#10;&#10;AI-generated content may be incorrect.">
            <a:extLst>
              <a:ext uri="{FF2B5EF4-FFF2-40B4-BE49-F238E27FC236}">
                <a16:creationId xmlns:a16="http://schemas.microsoft.com/office/drawing/2014/main" id="{86BFC967-81E1-2928-D4A3-D7562E6D2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7" y="2133564"/>
            <a:ext cx="3197518" cy="454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4634E8-2922-4E1E-3922-61BE82C9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Parametric Modelling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24D58-E159-BCFA-43F4-BC8DA1FDE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8305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Segment Length</a:t>
            </a:r>
          </a:p>
          <a:p>
            <a:pPr>
              <a:lnSpc>
                <a:spcPct val="100000"/>
              </a:lnSpc>
            </a:pPr>
            <a:endParaRPr lang="en-GB" sz="1800" dirty="0"/>
          </a:p>
          <a:p>
            <a:pPr>
              <a:lnSpc>
                <a:spcPct val="100000"/>
              </a:lnSpc>
            </a:pPr>
            <a:r>
              <a:rPr lang="en-GB" sz="1800" dirty="0"/>
              <a:t>Segment Angle</a:t>
            </a:r>
          </a:p>
          <a:p>
            <a:pPr>
              <a:lnSpc>
                <a:spcPct val="100000"/>
              </a:lnSpc>
            </a:pPr>
            <a:endParaRPr lang="en-GB" sz="1800" dirty="0"/>
          </a:p>
          <a:p>
            <a:pPr>
              <a:lnSpc>
                <a:spcPct val="100000"/>
              </a:lnSpc>
            </a:pPr>
            <a:r>
              <a:rPr lang="en-GB" sz="1800" dirty="0"/>
              <a:t>Derivation of Segmental Parameters for each class</a:t>
            </a:r>
          </a:p>
          <a:p>
            <a:pPr lvl="1">
              <a:lnSpc>
                <a:spcPct val="100000"/>
              </a:lnSpc>
            </a:pPr>
            <a:r>
              <a:rPr lang="en-GB" sz="1400" dirty="0"/>
              <a:t>Horizontal bonding length</a:t>
            </a:r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r>
              <a:rPr lang="en-GB" sz="1400" dirty="0"/>
              <a:t>Inclined segment length</a:t>
            </a:r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r>
              <a:rPr lang="en-GB" sz="1400" dirty="0"/>
              <a:t>Transition length, will be decomposed</a:t>
            </a:r>
          </a:p>
          <a:p>
            <a:pPr lvl="1">
              <a:lnSpc>
                <a:spcPct val="100000"/>
              </a:lnSpc>
            </a:pPr>
            <a:endParaRPr lang="en-GB" sz="1400" dirty="0"/>
          </a:p>
          <a:p>
            <a:pPr lvl="1">
              <a:lnSpc>
                <a:spcPct val="100000"/>
              </a:lnSpc>
            </a:pPr>
            <a:endParaRPr lang="en-GB" sz="1400" dirty="0"/>
          </a:p>
        </p:txBody>
      </p:sp>
      <p:pic>
        <p:nvPicPr>
          <p:cNvPr id="16" name="Picture 15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BC502084-9F58-2F07-D936-5403DE732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24" y="4021721"/>
            <a:ext cx="2796606" cy="52580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685C5-512F-63CD-8771-AE20290B6B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Geometric Descriptors</a:t>
            </a:r>
          </a:p>
          <a:p>
            <a:pPr lvl="1"/>
            <a:r>
              <a:rPr lang="en-GB" sz="1600" dirty="0"/>
              <a:t>Bonding Surface Coefficient </a:t>
            </a:r>
          </a:p>
          <a:p>
            <a:pPr lvl="2"/>
            <a:endParaRPr lang="en-GB" sz="1400" dirty="0"/>
          </a:p>
          <a:p>
            <a:pPr lvl="2"/>
            <a:endParaRPr lang="en-GB" sz="1400" dirty="0"/>
          </a:p>
          <a:p>
            <a:pPr lvl="1"/>
            <a:r>
              <a:rPr lang="en-GB" sz="1600" dirty="0"/>
              <a:t>Average Interlocking Depth</a:t>
            </a:r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Volumetric Interlock Ratio</a:t>
            </a:r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</p:txBody>
      </p:sp>
      <p:pic>
        <p:nvPicPr>
          <p:cNvPr id="12" name="Picture 11" descr="A black numbers and a white background&#10;&#10;AI-generated content may be incorrect.">
            <a:extLst>
              <a:ext uri="{FF2B5EF4-FFF2-40B4-BE49-F238E27FC236}">
                <a16:creationId xmlns:a16="http://schemas.microsoft.com/office/drawing/2014/main" id="{E54FBC6D-218D-A582-3BFF-885BECEC4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70" y="3018411"/>
            <a:ext cx="2796606" cy="404411"/>
          </a:xfrm>
          <a:prstGeom prst="rect">
            <a:avLst/>
          </a:prstGeom>
        </p:spPr>
      </p:pic>
      <p:pic>
        <p:nvPicPr>
          <p:cNvPr id="18" name="Picture 17" descr="A close-up of a text&#10;&#10;AI-generated content may be incorrect.">
            <a:extLst>
              <a:ext uri="{FF2B5EF4-FFF2-40B4-BE49-F238E27FC236}">
                <a16:creationId xmlns:a16="http://schemas.microsoft.com/office/drawing/2014/main" id="{FAC2DB16-F7E3-2F81-49B1-130D39D90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24" y="4897828"/>
            <a:ext cx="2902573" cy="653347"/>
          </a:xfrm>
          <a:prstGeom prst="rect">
            <a:avLst/>
          </a:prstGeom>
        </p:spPr>
      </p:pic>
      <p:pic>
        <p:nvPicPr>
          <p:cNvPr id="20" name="Picture 19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59EA8DF-6D03-5DC0-91AB-C829595920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665" y="6014130"/>
            <a:ext cx="2796606" cy="4401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C1B042-9CEF-F137-91A4-B175DC1ECA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506" y="3081736"/>
            <a:ext cx="2902574" cy="341086"/>
          </a:xfrm>
          <a:prstGeom prst="rect">
            <a:avLst/>
          </a:prstGeom>
        </p:spPr>
      </p:pic>
      <p:pic>
        <p:nvPicPr>
          <p:cNvPr id="28" name="Picture 2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43F748F-0C3D-359C-5806-A17BB96354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506" y="2621041"/>
            <a:ext cx="2075692" cy="477171"/>
          </a:xfrm>
          <a:prstGeom prst="rect">
            <a:avLst/>
          </a:prstGeom>
        </p:spPr>
      </p:pic>
      <p:pic>
        <p:nvPicPr>
          <p:cNvPr id="30" name="Picture 29" descr="A number and a symbol&#10;&#10;AI-generated content may be incorrect.">
            <a:extLst>
              <a:ext uri="{FF2B5EF4-FFF2-40B4-BE49-F238E27FC236}">
                <a16:creationId xmlns:a16="http://schemas.microsoft.com/office/drawing/2014/main" id="{02D53451-EA27-8F92-A942-9A0E5DC84D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071" y="3898363"/>
            <a:ext cx="2266219" cy="504441"/>
          </a:xfrm>
          <a:prstGeom prst="rect">
            <a:avLst/>
          </a:prstGeom>
        </p:spPr>
      </p:pic>
      <p:pic>
        <p:nvPicPr>
          <p:cNvPr id="32" name="Picture 3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A5DAF1-DC6D-FDBD-0AED-8694281A9C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071" y="4789742"/>
            <a:ext cx="2082041" cy="471830"/>
          </a:xfrm>
          <a:prstGeom prst="rect">
            <a:avLst/>
          </a:prstGeom>
        </p:spPr>
      </p:pic>
      <p:pic>
        <p:nvPicPr>
          <p:cNvPr id="34" name="Picture 33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B117211D-A199-7D23-00FA-20CE5F03D1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900" y="5282437"/>
            <a:ext cx="1604160" cy="53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B41BBF-2B27-A700-07B7-D6F9252A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Process–Structure–Property (PSP) Modeling</a:t>
            </a:r>
            <a:endParaRPr lang="en-GB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60EB1-3555-CB44-DBD0-98ABFAF8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Predictors</a:t>
            </a:r>
          </a:p>
          <a:p>
            <a:pPr lvl="1"/>
            <a:r>
              <a:rPr lang="en-GB" dirty="0"/>
              <a:t>Process: print speed, bonding interval, overlap distance, extrusion multiplier, cooling rate.</a:t>
            </a:r>
          </a:p>
          <a:p>
            <a:pPr lvl="1"/>
            <a:r>
              <a:rPr lang="en-GB" dirty="0"/>
              <a:t>Structure (Aggregate): kₛ, </a:t>
            </a:r>
            <a:r>
              <a:rPr lang="en-GB" dirty="0" err="1"/>
              <a:t>d_inter</a:t>
            </a:r>
            <a:r>
              <a:rPr lang="en-GB" dirty="0"/>
              <a:t>, R_IV.</a:t>
            </a:r>
          </a:p>
          <a:p>
            <a:pPr lvl="1"/>
            <a:r>
              <a:rPr lang="en-GB" dirty="0"/>
              <a:t>Structure (Segmental): total lengths of specific segment classes (closing, opening, horizontal).</a:t>
            </a:r>
          </a:p>
          <a:p>
            <a:r>
              <a:rPr lang="en-GB" dirty="0"/>
              <a:t>Response Variable: Tensile strength (</a:t>
            </a:r>
            <a:r>
              <a:rPr lang="el-GR" dirty="0"/>
              <a:t>σ_</a:t>
            </a:r>
            <a:r>
              <a:rPr lang="en-GB" dirty="0"/>
              <a:t>T), Tear resistance.</a:t>
            </a:r>
          </a:p>
          <a:p>
            <a:r>
              <a:rPr lang="en-GB" dirty="0"/>
              <a:t>Modelling Approach:</a:t>
            </a:r>
          </a:p>
          <a:p>
            <a:pPr lvl="1"/>
            <a:r>
              <a:rPr lang="en-GB" dirty="0"/>
              <a:t>Multivariate Regression (MLR).</a:t>
            </a:r>
          </a:p>
          <a:p>
            <a:pPr lvl="1"/>
            <a:r>
              <a:rPr lang="en-GB" dirty="0"/>
              <a:t>Advances to tree-based ensemble models (Random Forest, </a:t>
            </a:r>
            <a:r>
              <a:rPr lang="en-GB" dirty="0" err="1"/>
              <a:t>XGBoost</a:t>
            </a:r>
            <a:r>
              <a:rPr lang="en-GB" dirty="0"/>
              <a:t>) to capture nonlinear dependencies between parameters and joint strength.</a:t>
            </a:r>
          </a:p>
        </p:txBody>
      </p:sp>
    </p:spTree>
    <p:extLst>
      <p:ext uri="{BB962C8B-B14F-4D97-AF65-F5344CB8AC3E}">
        <p14:creationId xmlns:p14="http://schemas.microsoft.com/office/powerpoint/2010/main" val="4059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Offset</Template>
  <TotalTime>173</TotalTime>
  <Words>163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Dante (Headings)2</vt:lpstr>
      <vt:lpstr>Helvetica Neue Medium</vt:lpstr>
      <vt:lpstr>Arial</vt:lpstr>
      <vt:lpstr>Dante</vt:lpstr>
      <vt:lpstr>Wingdings 2</vt:lpstr>
      <vt:lpstr>OffsetVTI</vt:lpstr>
      <vt:lpstr>PowerPoint Presentation</vt:lpstr>
      <vt:lpstr>Segment Classification </vt:lpstr>
      <vt:lpstr>PowerPoint Presentation</vt:lpstr>
      <vt:lpstr>Image Processing</vt:lpstr>
      <vt:lpstr>PowerPoint Presentation</vt:lpstr>
      <vt:lpstr>Parametric Modelling </vt:lpstr>
      <vt:lpstr>Process–Structure–Property (PSP) Modeling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Chen</dc:creator>
  <cp:lastModifiedBy>Lucas Chen</cp:lastModifiedBy>
  <cp:revision>8</cp:revision>
  <dcterms:created xsi:type="dcterms:W3CDTF">2025-11-12T19:30:15Z</dcterms:created>
  <dcterms:modified xsi:type="dcterms:W3CDTF">2025-11-12T22:23:44Z</dcterms:modified>
</cp:coreProperties>
</file>